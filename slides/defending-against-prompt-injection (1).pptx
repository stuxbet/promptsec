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10287000" cx="18288000"/>
  <p:notesSz cx="10287000" cy="18288000"/>
  <p:embeddedFontLst>
    <p:embeddedFont>
      <p:font typeface="Inter"/>
      <p:regular r:id="rId16"/>
      <p:bold r:id="rId17"/>
      <p:italic r:id="rId18"/>
      <p:boldItalic r:id="rId19"/>
    </p:embeddedFont>
    <p:embeddedFont>
      <p:font typeface="JetBrains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gqKKTsRmqVIKjROYT9JwUhgcNH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JetBrainsMono-regular.fntdata"/><Relationship Id="rId11" Type="http://schemas.openxmlformats.org/officeDocument/2006/relationships/slide" Target="slides/slide7.xml"/><Relationship Id="rId22" Type="http://schemas.openxmlformats.org/officeDocument/2006/relationships/font" Target="fonts/JetBrainsMono-italic.fntdata"/><Relationship Id="rId10" Type="http://schemas.openxmlformats.org/officeDocument/2006/relationships/slide" Target="slides/slide6.xml"/><Relationship Id="rId21" Type="http://schemas.openxmlformats.org/officeDocument/2006/relationships/font" Target="fonts/JetBrainsMono-bold.fntdata"/><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font" Target="fonts/JetBrainsMon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slide" Target="slides/slide1.xml"/><Relationship Id="rId19" Type="http://schemas.openxmlformats.org/officeDocument/2006/relationships/font" Target="fonts/Inter-boldItalic.fntdata"/><Relationship Id="rId6" Type="http://schemas.openxmlformats.org/officeDocument/2006/relationships/slide" Target="slides/slide2.xml"/><Relationship Id="rId18" Type="http://schemas.openxmlformats.org/officeDocument/2006/relationships/font" Target="fonts/Inter-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 I'm Luke. For the next ten minutes I want to walk you through a class project called promptsec. The one-line version: I took an internal AI assistant, broke it on purpose with indirect prompt injection, then layered defenses on it and measured the gap. The thing I want you to leave with is that defense in depth actually works, even when the underlying model is the same. The work is inspired directly by Google DeepMind's 2025 paper on defending Gemini, and a lot of the framing comes from there.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Picture an internal company assistant. It reads your inbox, searches the document library, drafts replies, and flags things for review. Importantly — for this lab — it never sends real mail, never touches a live system. Every tool action is simulated against synthetic data. That constraint matters because it lets me run hostile inputs without anyone getting paged at three in the morning. Four capabilities: read, search, draft, flag. Memorize those — they show up again when we get to the tool allowlist.</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threat. Indirect prompt injection is when the attacker doesn't talk to the model at all — they hide instructions in a document the model is going to retrieve later. An email body. A vendor PDF. A wiki page. The user asks something completely benign, the assistant pulls in the poisoned document to answer, and now the model is reading attacker text as if it were instructions from the user. Three things from the DeepMind paper that I keep coming back to: single mitigations get adapted around, more capable models aren't automatically safer, and you have to evaluate adaptively — static benchmarks lie.</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the goal of the project, in three parts. One: build a deliberately vulnerable baseline — the worst-plausible version of this assistant. Two: build a defended version with layered controls on the same task and the same data. Three: run both against the same scenario set and measure the gap. The deliverable is a before-and-after story backed by numbers, plus an honest write-up of what's still broken.</a:t>
            </a:r>
            <a:endParaRPr/>
          </a:p>
        </p:txBody>
      </p:sp>
      <p:sp>
        <p:nvSpPr>
          <p:cNvPr id="102" name="Google Shape;10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threat model. Three actor types — external senders, third-party vendors, and unverified internal docs. Four attack surfaces — email bodies, document content, the merged prompt itself, and the tool router downstream of the model. The matrix on the right is the excerpt that drove the design: instruction override and approval bypass are the high-impact entries, and they're exactly what the controls are aimed at.</a:t>
            </a:r>
            <a:endParaRPr/>
          </a:p>
        </p:txBody>
      </p:sp>
      <p:sp>
        <p:nvSpPr>
          <p:cNvPr id="137" name="Google Shape;13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baseline. It is intentionally bad. User intent and retrieved content get concatenated into one prompt, no labeling, no separation, broad tool permissions, no output check. It handles benign work fine — that's the trap. It also fails on hostile inputs in very believable ways, which is what makes it a credible before-state. If your baseline isn't realistically weak, your after-numbers don't mean anything.</a:t>
            </a:r>
            <a:endParaRPr/>
          </a:p>
        </p:txBody>
      </p:sp>
      <p:sp>
        <p:nvSpPr>
          <p:cNvPr id="196" name="Google Shape;1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Defended version. Five layers. Source labeling tags every retrieved item as trusted, untrusted, or unknown — and those tags travel with the content. Prompt separation puts system rules, user intent, and retrieved data in distinct slots so the model can tell them apart. The tool allowlist is hard-coded to summarize, draft, and flag; anything else is refused before it reaches the model. Output validation scans for leakage and hijack phrasing on the way out. And anything high-risk routes to a simulated approval gate. None of these is bulletproof alone — that's the point. Each one closes a different path.</a:t>
            </a:r>
            <a:endParaRPr/>
          </a:p>
        </p:txBody>
      </p:sp>
      <p:sp>
        <p:nvSpPr>
          <p:cNvPr id="236" name="Google Shape;23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Methodology. Same twenty-one scenarios run against both pipelines. Five metrics: attack success rate, benign task success, leakage rate, blocked-unsafe-action rate, and false positives. The benign metric matters as much as the attack metric — a defense that breaks normal work is not a defense, it's a regression.</a:t>
            </a:r>
            <a:endParaRPr/>
          </a:p>
        </p:txBody>
      </p:sp>
      <p:sp>
        <p:nvSpPr>
          <p:cNvPr id="274" name="Google Shape;27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Headline numbers. Attack success rate dropped from seventy percent to zero on this scenario set. Confidential token leakage from nineteen percent to zero. Benign tasks still complete a hundred percent of the time. The honest caveat is on the next slide — this is a synthetic set with twenty-one scenarios, not a real adversary.</a:t>
            </a:r>
            <a:endParaRPr/>
          </a:p>
        </p:txBody>
      </p:sp>
      <p:sp>
        <p:nvSpPr>
          <p:cNvPr id="303" name="Google Shape;30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this prototype still cannot promise. Rule-based validation will miss novel phrasing. Source labels rely on synthetic metadata — provenance is genuinely unsolved in real deployments. The approval gate is simulated, so I haven't measured analyst latency or fatigue. And retrieval here is intentionally simple. The four lessons on the right are what I'd carry into a real system: layers beat cleverness, separating intent from data is the highest-leverage control, output validation is a heuristic — pair it with policy refusal — and a measurable before-and-after is more persuasive than any single demo.</a:t>
            </a:r>
            <a:endParaRPr/>
          </a:p>
        </p:txBody>
      </p:sp>
      <p:sp>
        <p:nvSpPr>
          <p:cNvPr id="329" name="Google Shape;32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the deck. Code, evidence tables, threat model, and the full report are in the promptsec repo — happy to dig into any layer, any scenario, or any of the residual risks. Adversarial test ideas especially welcome.</a:t>
            </a:r>
            <a:endParaRPr/>
          </a:p>
        </p:txBody>
      </p:sp>
      <p:sp>
        <p:nvSpPr>
          <p:cNvPr id="367" name="Google Shape;36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15" name="Shape 15"/>
        <p:cNvGrpSpPr/>
        <p:nvPr/>
      </p:nvGrpSpPr>
      <p:grpSpPr>
        <a:xfrm>
          <a:off x="0" y="0"/>
          <a:ext cx="0" cy="0"/>
          <a:chOff x="0" y="0"/>
          <a:chExt cx="0" cy="0"/>
        </a:xfrm>
      </p:grpSpPr>
      <p:sp>
        <p:nvSpPr>
          <p:cNvPr id="16" name="Google Shape;16;p1"/>
          <p:cNvSpPr/>
          <p:nvPr/>
        </p:nvSpPr>
        <p:spPr>
          <a:xfrm>
            <a:off x="11759806" y="533400"/>
            <a:ext cx="5575695"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DEFENSIVE AI SECURITY </a:t>
            </a:r>
            <a:endParaRPr b="0" i="0" sz="1800" u="none" cap="none" strike="noStrike">
              <a:solidFill>
                <a:schemeClr val="dk1"/>
              </a:solidFill>
              <a:latin typeface="Calibri"/>
              <a:ea typeface="Calibri"/>
              <a:cs typeface="Calibri"/>
              <a:sym typeface="Calibri"/>
            </a:endParaRPr>
          </a:p>
        </p:txBody>
      </p:sp>
      <p:sp>
        <p:nvSpPr>
          <p:cNvPr id="17" name="Google Shape;17;p1"/>
          <p:cNvSpPr/>
          <p:nvPr/>
        </p:nvSpPr>
        <p:spPr>
          <a:xfrm>
            <a:off x="1162050" y="2857500"/>
            <a:ext cx="3263485"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202</a:t>
            </a:r>
            <a:r>
              <a:rPr lang="en-US" sz="1800">
                <a:solidFill>
                  <a:srgbClr val="7A808A"/>
                </a:solidFill>
                <a:latin typeface="JetBrains Mono"/>
                <a:ea typeface="JetBrains Mono"/>
                <a:cs typeface="JetBrains Mono"/>
                <a:sym typeface="JetBrains Mono"/>
              </a:rPr>
              <a:t>6</a:t>
            </a:r>
            <a:endParaRPr b="0" i="0" sz="1800" u="none" cap="none" strike="noStrike">
              <a:solidFill>
                <a:schemeClr val="dk1"/>
              </a:solidFill>
              <a:latin typeface="Calibri"/>
              <a:ea typeface="Calibri"/>
              <a:cs typeface="Calibri"/>
              <a:sym typeface="Calibri"/>
            </a:endParaRPr>
          </a:p>
        </p:txBody>
      </p:sp>
      <p:sp>
        <p:nvSpPr>
          <p:cNvPr id="18" name="Google Shape;18;p1"/>
          <p:cNvSpPr/>
          <p:nvPr/>
        </p:nvSpPr>
        <p:spPr>
          <a:xfrm>
            <a:off x="952500" y="3501390"/>
            <a:ext cx="16874490" cy="2836128"/>
          </a:xfrm>
          <a:prstGeom prst="rect">
            <a:avLst/>
          </a:prstGeom>
          <a:noFill/>
          <a:ln>
            <a:noFill/>
          </a:ln>
        </p:spPr>
        <p:txBody>
          <a:bodyPr anchorCtr="0" anchor="t" bIns="25400" lIns="25400" spcFirstLastPara="1" rIns="25400" wrap="square" tIns="25400">
            <a:normAutofit/>
          </a:bodyPr>
          <a:lstStyle/>
          <a:p>
            <a:pPr indent="0" lvl="0" marL="0" marR="0" rtl="0" algn="l">
              <a:lnSpc>
                <a:spcPct val="102000"/>
              </a:lnSpc>
              <a:spcBef>
                <a:spcPts val="0"/>
              </a:spcBef>
              <a:spcAft>
                <a:spcPts val="0"/>
              </a:spcAft>
              <a:buClr>
                <a:srgbClr val="E8EAED"/>
              </a:buClr>
              <a:buSzPts val="7200"/>
              <a:buFont typeface="Inter"/>
              <a:buNone/>
            </a:pPr>
            <a:r>
              <a:rPr b="1" i="0" lang="en-US" sz="7200" u="none" cap="none" strike="noStrike">
                <a:solidFill>
                  <a:srgbClr val="E8EAED"/>
                </a:solidFill>
                <a:latin typeface="Inter"/>
                <a:ea typeface="Inter"/>
                <a:cs typeface="Inter"/>
                <a:sym typeface="Inter"/>
              </a:rPr>
              <a:t>Defending an internal AI assistant against indirect prompt injection.</a:t>
            </a:r>
            <a:endParaRPr b="0" i="0" sz="7200" u="none" cap="none" strike="noStrike">
              <a:solidFill>
                <a:schemeClr val="dk1"/>
              </a:solidFill>
              <a:latin typeface="Calibri"/>
              <a:ea typeface="Calibri"/>
              <a:cs typeface="Calibri"/>
              <a:sym typeface="Calibri"/>
            </a:endParaRPr>
          </a:p>
        </p:txBody>
      </p:sp>
      <p:sp>
        <p:nvSpPr>
          <p:cNvPr id="19" name="Google Shape;19;p1"/>
          <p:cNvSpPr/>
          <p:nvPr/>
        </p:nvSpPr>
        <p:spPr>
          <a:xfrm>
            <a:off x="952500" y="6832818"/>
            <a:ext cx="706374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INSPIRED BY</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952500" y="7229058"/>
            <a:ext cx="706374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rgbClr val="B8BCC4"/>
                </a:solidFill>
                <a:latin typeface="Inter"/>
                <a:ea typeface="Inter"/>
                <a:cs typeface="Inter"/>
                <a:sym typeface="Inter"/>
              </a:rPr>
              <a:t>Lessons from Defending Gemini Against Indirect Prompt Injections</a:t>
            </a:r>
            <a:r>
              <a:rPr lang="en-US" sz="2100">
                <a:solidFill>
                  <a:srgbClr val="B8BCC4"/>
                </a:solidFill>
                <a:latin typeface="Inter"/>
                <a:ea typeface="Inter"/>
                <a:cs typeface="Inter"/>
                <a:sym typeface="Inter"/>
              </a:rPr>
              <a:t>,</a:t>
            </a:r>
            <a:r>
              <a:rPr b="0" i="0" lang="en-US" sz="2100" u="none" cap="none" strike="noStrike">
                <a:solidFill>
                  <a:srgbClr val="B8BCC4"/>
                </a:solidFill>
                <a:latin typeface="Inter"/>
                <a:ea typeface="Inter"/>
                <a:cs typeface="Inter"/>
                <a:sym typeface="Inter"/>
              </a:rPr>
              <a:t> Google DeepMind, 2025.</a:t>
            </a:r>
            <a:endParaRPr b="0" i="0" sz="2100" u="none" cap="none" strike="noStrike">
              <a:solidFill>
                <a:schemeClr val="dk1"/>
              </a:solidFill>
              <a:latin typeface="Calibri"/>
              <a:ea typeface="Calibri"/>
              <a:cs typeface="Calibri"/>
              <a:sym typeface="Calibri"/>
            </a:endParaRPr>
          </a:p>
        </p:txBody>
      </p:sp>
      <p:sp>
        <p:nvSpPr>
          <p:cNvPr id="21" name="Google Shape;21;p1"/>
          <p:cNvSpPr/>
          <p:nvPr/>
        </p:nvSpPr>
        <p:spPr>
          <a:xfrm>
            <a:off x="8572500" y="6832818"/>
            <a:ext cx="209704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REPOSITORY</a:t>
            </a:r>
            <a:endParaRPr b="0" i="0" sz="1800" u="none" cap="none" strike="noStrike">
              <a:solidFill>
                <a:schemeClr val="dk1"/>
              </a:solidFill>
              <a:latin typeface="Calibri"/>
              <a:ea typeface="Calibri"/>
              <a:cs typeface="Calibri"/>
              <a:sym typeface="Calibri"/>
            </a:endParaRPr>
          </a:p>
        </p:txBody>
      </p:sp>
      <p:sp>
        <p:nvSpPr>
          <p:cNvPr id="22" name="Google Shape;22;p1"/>
          <p:cNvSpPr/>
          <p:nvPr/>
        </p:nvSpPr>
        <p:spPr>
          <a:xfrm>
            <a:off x="8572500" y="7229058"/>
            <a:ext cx="2097048"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JetBrains Mono"/>
              <a:buNone/>
            </a:pPr>
            <a:r>
              <a:rPr b="0" i="0" lang="en-US" sz="2100" u="none" cap="none" strike="noStrike">
                <a:solidFill>
                  <a:srgbClr val="B8BCC4"/>
                </a:solidFill>
                <a:latin typeface="JetBrains Mono"/>
                <a:ea typeface="JetBrains Mono"/>
                <a:cs typeface="JetBrains Mono"/>
                <a:sym typeface="JetBrains Mono"/>
              </a:rPr>
              <a:t>~/promptsec</a:t>
            </a:r>
            <a:endParaRPr b="0" i="0" sz="2100" u="none" cap="none" strike="noStrike">
              <a:solidFill>
                <a:schemeClr val="dk1"/>
              </a:solidFill>
              <a:latin typeface="Calibri"/>
              <a:ea typeface="Calibri"/>
              <a:cs typeface="Calibri"/>
              <a:sym typeface="Calibri"/>
            </a:endParaRPr>
          </a:p>
        </p:txBody>
      </p:sp>
      <p:sp>
        <p:nvSpPr>
          <p:cNvPr id="23" name="Google Shape;23;p1"/>
          <p:cNvSpPr/>
          <p:nvPr/>
        </p:nvSpPr>
        <p:spPr>
          <a:xfrm>
            <a:off x="952500" y="9452610"/>
            <a:ext cx="2563416"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PRESENTED BY LUKE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28" name="Shape 28"/>
        <p:cNvGrpSpPr/>
        <p:nvPr/>
      </p:nvGrpSpPr>
      <p:grpSpPr>
        <a:xfrm>
          <a:off x="0" y="0"/>
          <a:ext cx="0" cy="0"/>
          <a:chOff x="0" y="0"/>
          <a:chExt cx="0" cy="0"/>
        </a:xfrm>
      </p:grpSpPr>
      <p:sp>
        <p:nvSpPr>
          <p:cNvPr id="29" name="Google Shape;29;p2"/>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02 / 11</a:t>
            </a:r>
            <a:endParaRPr b="0" i="0" sz="1800" u="none" cap="none" strike="noStrike">
              <a:solidFill>
                <a:schemeClr val="dk1"/>
              </a:solidFill>
              <a:latin typeface="Calibri"/>
              <a:ea typeface="Calibri"/>
              <a:cs typeface="Calibri"/>
              <a:sym typeface="Calibri"/>
            </a:endParaRPr>
          </a:p>
        </p:txBody>
      </p:sp>
      <p:sp>
        <p:nvSpPr>
          <p:cNvPr id="30" name="Google Shape;30;p2"/>
          <p:cNvSpPr/>
          <p:nvPr/>
        </p:nvSpPr>
        <p:spPr>
          <a:xfrm>
            <a:off x="15503605" y="533400"/>
            <a:ext cx="1831896"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THE SCENARIO</a:t>
            </a:r>
            <a:endParaRPr b="0" i="0" sz="1800" u="none" cap="none" strike="noStrike">
              <a:solidFill>
                <a:schemeClr val="dk1"/>
              </a:solidFill>
              <a:latin typeface="Calibri"/>
              <a:ea typeface="Calibri"/>
              <a:cs typeface="Calibri"/>
              <a:sym typeface="Calibri"/>
            </a:endParaRPr>
          </a:p>
        </p:txBody>
      </p:sp>
      <p:sp>
        <p:nvSpPr>
          <p:cNvPr id="31" name="Google Shape;31;p2"/>
          <p:cNvSpPr/>
          <p:nvPr/>
        </p:nvSpPr>
        <p:spPr>
          <a:xfrm>
            <a:off x="952500" y="2030730"/>
            <a:ext cx="16874490" cy="1702237"/>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E8EAED"/>
              </a:buClr>
              <a:buSzPts val="6300"/>
              <a:buFont typeface="Inter"/>
              <a:buNone/>
            </a:pPr>
            <a:r>
              <a:rPr b="1" i="0" lang="en-US" sz="6300" u="none" cap="none" strike="noStrike">
                <a:solidFill>
                  <a:srgbClr val="E8EAED"/>
                </a:solidFill>
                <a:latin typeface="Inter"/>
                <a:ea typeface="Inter"/>
                <a:cs typeface="Inter"/>
                <a:sym typeface="Inter"/>
              </a:rPr>
              <a:t>An internal assistant for the inbox and the wiki.</a:t>
            </a:r>
            <a:endParaRPr b="0" i="0" sz="6300" u="none" cap="none" strike="noStrike">
              <a:solidFill>
                <a:schemeClr val="dk1"/>
              </a:solidFill>
              <a:latin typeface="Calibri"/>
              <a:ea typeface="Calibri"/>
              <a:cs typeface="Calibri"/>
              <a:sym typeface="Calibri"/>
            </a:endParaRPr>
          </a:p>
        </p:txBody>
      </p:sp>
      <p:sp>
        <p:nvSpPr>
          <p:cNvPr id="32" name="Google Shape;32;p2"/>
          <p:cNvSpPr/>
          <p:nvPr/>
        </p:nvSpPr>
        <p:spPr>
          <a:xfrm>
            <a:off x="952500" y="3923467"/>
            <a:ext cx="13735050" cy="89154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2400"/>
              <a:buFont typeface="Inter"/>
              <a:buNone/>
            </a:pPr>
            <a:r>
              <a:rPr b="0" i="0" lang="en-US" sz="2400" u="none" cap="none" strike="noStrike">
                <a:solidFill>
                  <a:srgbClr val="B8BCC4"/>
                </a:solidFill>
                <a:latin typeface="Inter"/>
                <a:ea typeface="Inter"/>
                <a:cs typeface="Inter"/>
                <a:sym typeface="Inter"/>
              </a:rPr>
              <a:t>Reads mail. Searches docs. Drafts replies. Flags items. Nothing is sent. Nothing is real. Every tool action is simulated.</a:t>
            </a:r>
            <a:endParaRPr b="0" i="0" sz="2400" u="none" cap="none" strike="noStrike">
              <a:solidFill>
                <a:schemeClr val="dk1"/>
              </a:solidFill>
              <a:latin typeface="Calibri"/>
              <a:ea typeface="Calibri"/>
              <a:cs typeface="Calibri"/>
              <a:sym typeface="Calibri"/>
            </a:endParaRPr>
          </a:p>
        </p:txBody>
      </p:sp>
      <p:sp>
        <p:nvSpPr>
          <p:cNvPr id="33" name="Google Shape;33;p2"/>
          <p:cNvSpPr/>
          <p:nvPr/>
        </p:nvSpPr>
        <p:spPr>
          <a:xfrm>
            <a:off x="952500" y="7046595"/>
            <a:ext cx="3924300" cy="1906905"/>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950595" y="8947785"/>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950595" y="8822055"/>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4745355" y="8947785"/>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871085" y="8822055"/>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1303020" y="7397115"/>
            <a:ext cx="331995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READ</a:t>
            </a:r>
            <a:endParaRPr b="0" i="0" sz="1800" u="none" cap="none" strike="noStrike">
              <a:solidFill>
                <a:schemeClr val="dk1"/>
              </a:solidFill>
              <a:latin typeface="Calibri"/>
              <a:ea typeface="Calibri"/>
              <a:cs typeface="Calibri"/>
              <a:sym typeface="Calibri"/>
            </a:endParaRPr>
          </a:p>
        </p:txBody>
      </p:sp>
      <p:sp>
        <p:nvSpPr>
          <p:cNvPr id="39" name="Google Shape;39;p2"/>
          <p:cNvSpPr/>
          <p:nvPr/>
        </p:nvSpPr>
        <p:spPr>
          <a:xfrm>
            <a:off x="1303020" y="7831455"/>
            <a:ext cx="3319958" cy="809625"/>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E8EAED"/>
              </a:buClr>
              <a:buSzPts val="2250"/>
              <a:buFont typeface="Inter"/>
              <a:buNone/>
            </a:pPr>
            <a:r>
              <a:rPr b="0" i="0" lang="en-US" sz="2250" u="none" cap="none" strike="noStrike">
                <a:solidFill>
                  <a:srgbClr val="E8EAED"/>
                </a:solidFill>
                <a:latin typeface="Inter"/>
                <a:ea typeface="Inter"/>
                <a:cs typeface="Inter"/>
                <a:sym typeface="Inter"/>
              </a:rPr>
              <a:t>Pull from synthetic emails</a:t>
            </a:r>
            <a:endParaRPr b="0" i="0" sz="2250" u="none" cap="none" strike="noStrike">
              <a:solidFill>
                <a:schemeClr val="dk1"/>
              </a:solidFill>
              <a:latin typeface="Calibri"/>
              <a:ea typeface="Calibri"/>
              <a:cs typeface="Calibri"/>
              <a:sym typeface="Calibri"/>
            </a:endParaRPr>
          </a:p>
        </p:txBody>
      </p:sp>
      <p:sp>
        <p:nvSpPr>
          <p:cNvPr id="40" name="Google Shape;40;p2"/>
          <p:cNvSpPr/>
          <p:nvPr/>
        </p:nvSpPr>
        <p:spPr>
          <a:xfrm>
            <a:off x="5105400" y="7046595"/>
            <a:ext cx="3924300" cy="1906905"/>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103495" y="8947785"/>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103495" y="8822055"/>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8898255" y="8947785"/>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9023985" y="8822055"/>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455920" y="7397115"/>
            <a:ext cx="331995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SEARCH</a:t>
            </a:r>
            <a:endParaRPr b="0" i="0" sz="1800" u="none" cap="none" strike="noStrike">
              <a:solidFill>
                <a:schemeClr val="dk1"/>
              </a:solidFill>
              <a:latin typeface="Calibri"/>
              <a:ea typeface="Calibri"/>
              <a:cs typeface="Calibri"/>
              <a:sym typeface="Calibri"/>
            </a:endParaRPr>
          </a:p>
        </p:txBody>
      </p:sp>
      <p:sp>
        <p:nvSpPr>
          <p:cNvPr id="46" name="Google Shape;46;p2"/>
          <p:cNvSpPr/>
          <p:nvPr/>
        </p:nvSpPr>
        <p:spPr>
          <a:xfrm>
            <a:off x="5455920" y="7831455"/>
            <a:ext cx="3319958" cy="809625"/>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E8EAED"/>
              </a:buClr>
              <a:buSzPts val="2250"/>
              <a:buFont typeface="Inter"/>
              <a:buNone/>
            </a:pPr>
            <a:r>
              <a:rPr b="0" i="0" lang="en-US" sz="2250" u="none" cap="none" strike="noStrike">
                <a:solidFill>
                  <a:srgbClr val="E8EAED"/>
                </a:solidFill>
                <a:latin typeface="Inter"/>
                <a:ea typeface="Inter"/>
                <a:cs typeface="Inter"/>
                <a:sym typeface="Inter"/>
              </a:rPr>
              <a:t>Retrieve from internal docs</a:t>
            </a:r>
            <a:endParaRPr b="0" i="0" sz="2250" u="none" cap="none" strike="noStrike">
              <a:solidFill>
                <a:schemeClr val="dk1"/>
              </a:solidFill>
              <a:latin typeface="Calibri"/>
              <a:ea typeface="Calibri"/>
              <a:cs typeface="Calibri"/>
              <a:sym typeface="Calibri"/>
            </a:endParaRPr>
          </a:p>
        </p:txBody>
      </p:sp>
      <p:sp>
        <p:nvSpPr>
          <p:cNvPr id="47" name="Google Shape;47;p2"/>
          <p:cNvSpPr/>
          <p:nvPr/>
        </p:nvSpPr>
        <p:spPr>
          <a:xfrm>
            <a:off x="9258300" y="7046595"/>
            <a:ext cx="3924300" cy="1906905"/>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9256395" y="8947785"/>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9256395" y="8822055"/>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13051156" y="8947785"/>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3176886" y="8822055"/>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9608820" y="7397115"/>
            <a:ext cx="331995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DRAFT</a:t>
            </a:r>
            <a:endParaRPr b="0" i="0" sz="1800" u="none" cap="none" strike="noStrike">
              <a:solidFill>
                <a:schemeClr val="dk1"/>
              </a:solidFill>
              <a:latin typeface="Calibri"/>
              <a:ea typeface="Calibri"/>
              <a:cs typeface="Calibri"/>
              <a:sym typeface="Calibri"/>
            </a:endParaRPr>
          </a:p>
        </p:txBody>
      </p:sp>
      <p:sp>
        <p:nvSpPr>
          <p:cNvPr id="53" name="Google Shape;53;p2"/>
          <p:cNvSpPr/>
          <p:nvPr/>
        </p:nvSpPr>
        <p:spPr>
          <a:xfrm>
            <a:off x="9608820" y="7831455"/>
            <a:ext cx="3319958" cy="423863"/>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E8EAED"/>
              </a:buClr>
              <a:buSzPts val="2250"/>
              <a:buFont typeface="Inter"/>
              <a:buNone/>
            </a:pPr>
            <a:r>
              <a:rPr b="0" i="0" lang="en-US" sz="2250" u="none" cap="none" strike="noStrike">
                <a:solidFill>
                  <a:srgbClr val="E8EAED"/>
                </a:solidFill>
                <a:latin typeface="Inter"/>
                <a:ea typeface="Inter"/>
                <a:cs typeface="Inter"/>
                <a:sym typeface="Inter"/>
              </a:rPr>
              <a:t>Compose reply text</a:t>
            </a:r>
            <a:endParaRPr b="0" i="0" sz="2250" u="none" cap="none" strike="noStrike">
              <a:solidFill>
                <a:schemeClr val="dk1"/>
              </a:solidFill>
              <a:latin typeface="Calibri"/>
              <a:ea typeface="Calibri"/>
              <a:cs typeface="Calibri"/>
              <a:sym typeface="Calibri"/>
            </a:endParaRPr>
          </a:p>
        </p:txBody>
      </p:sp>
      <p:sp>
        <p:nvSpPr>
          <p:cNvPr id="54" name="Google Shape;54;p2"/>
          <p:cNvSpPr/>
          <p:nvPr/>
        </p:nvSpPr>
        <p:spPr>
          <a:xfrm>
            <a:off x="13411200" y="7046595"/>
            <a:ext cx="3924300" cy="1906905"/>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13409295" y="8947785"/>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13409295" y="8822055"/>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7204056" y="8947785"/>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7329786" y="8822055"/>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13761720" y="7397115"/>
            <a:ext cx="331995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FLAG</a:t>
            </a:r>
            <a:endParaRPr b="0" i="0" sz="1800" u="none" cap="none" strike="noStrike">
              <a:solidFill>
                <a:schemeClr val="dk1"/>
              </a:solidFill>
              <a:latin typeface="Calibri"/>
              <a:ea typeface="Calibri"/>
              <a:cs typeface="Calibri"/>
              <a:sym typeface="Calibri"/>
            </a:endParaRPr>
          </a:p>
        </p:txBody>
      </p:sp>
      <p:sp>
        <p:nvSpPr>
          <p:cNvPr id="60" name="Google Shape;60;p2"/>
          <p:cNvSpPr/>
          <p:nvPr/>
        </p:nvSpPr>
        <p:spPr>
          <a:xfrm>
            <a:off x="13761720" y="7831455"/>
            <a:ext cx="3319958" cy="423863"/>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E8EAED"/>
              </a:buClr>
              <a:buSzPts val="2250"/>
              <a:buFont typeface="Inter"/>
              <a:buNone/>
            </a:pPr>
            <a:r>
              <a:rPr b="0" i="0" lang="en-US" sz="2250" u="none" cap="none" strike="noStrike">
                <a:solidFill>
                  <a:srgbClr val="E8EAED"/>
                </a:solidFill>
                <a:latin typeface="Inter"/>
                <a:ea typeface="Inter"/>
                <a:cs typeface="Inter"/>
                <a:sym typeface="Inter"/>
              </a:rPr>
              <a:t>Route items for review</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65" name="Shape 65"/>
        <p:cNvGrpSpPr/>
        <p:nvPr/>
      </p:nvGrpSpPr>
      <p:grpSpPr>
        <a:xfrm>
          <a:off x="0" y="0"/>
          <a:ext cx="0" cy="0"/>
          <a:chOff x="0" y="0"/>
          <a:chExt cx="0" cy="0"/>
        </a:xfrm>
      </p:grpSpPr>
      <p:sp>
        <p:nvSpPr>
          <p:cNvPr id="66" name="Google Shape;66;p3"/>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03 / 11</a:t>
            </a:r>
            <a:endParaRPr b="0" i="0" sz="1800" u="none" cap="none" strike="noStrike">
              <a:solidFill>
                <a:schemeClr val="dk1"/>
              </a:solidFill>
              <a:latin typeface="Calibri"/>
              <a:ea typeface="Calibri"/>
              <a:cs typeface="Calibri"/>
              <a:sym typeface="Calibri"/>
            </a:endParaRPr>
          </a:p>
        </p:txBody>
      </p:sp>
      <p:sp>
        <p:nvSpPr>
          <p:cNvPr id="67" name="Google Shape;67;p3"/>
          <p:cNvSpPr/>
          <p:nvPr/>
        </p:nvSpPr>
        <p:spPr>
          <a:xfrm>
            <a:off x="15796260" y="533400"/>
            <a:ext cx="1539240"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THE THREAT</a:t>
            </a:r>
            <a:endParaRPr b="0" i="0" sz="1800" u="none" cap="none" strike="noStrike">
              <a:solidFill>
                <a:schemeClr val="dk1"/>
              </a:solidFill>
              <a:latin typeface="Calibri"/>
              <a:ea typeface="Calibri"/>
              <a:cs typeface="Calibri"/>
              <a:sym typeface="Calibri"/>
            </a:endParaRPr>
          </a:p>
        </p:txBody>
      </p:sp>
      <p:sp>
        <p:nvSpPr>
          <p:cNvPr id="68" name="Google Shape;68;p3"/>
          <p:cNvSpPr/>
          <p:nvPr/>
        </p:nvSpPr>
        <p:spPr>
          <a:xfrm>
            <a:off x="1093470" y="1398270"/>
            <a:ext cx="4825966"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CWE / INDIRECT-PROMPT-INJECTION</a:t>
            </a:r>
            <a:endParaRPr b="0" i="0" sz="1800" u="none" cap="none" strike="noStrike">
              <a:solidFill>
                <a:schemeClr val="dk1"/>
              </a:solidFill>
              <a:latin typeface="Calibri"/>
              <a:ea typeface="Calibri"/>
              <a:cs typeface="Calibri"/>
              <a:sym typeface="Calibri"/>
            </a:endParaRPr>
          </a:p>
        </p:txBody>
      </p:sp>
      <p:sp>
        <p:nvSpPr>
          <p:cNvPr id="69" name="Google Shape;69;p3"/>
          <p:cNvSpPr/>
          <p:nvPr/>
        </p:nvSpPr>
        <p:spPr>
          <a:xfrm>
            <a:off x="952500" y="2030730"/>
            <a:ext cx="16874490" cy="1702237"/>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E8EAED"/>
              </a:buClr>
              <a:buSzPts val="6300"/>
              <a:buFont typeface="Inter"/>
              <a:buNone/>
            </a:pPr>
            <a:r>
              <a:rPr b="1" i="0" lang="en-US" sz="6300" u="none" cap="none" strike="noStrike">
                <a:solidFill>
                  <a:srgbClr val="E8EAED"/>
                </a:solidFill>
                <a:latin typeface="Inter"/>
                <a:ea typeface="Inter"/>
                <a:cs typeface="Inter"/>
                <a:sym typeface="Inter"/>
              </a:rPr>
              <a:t>The attacker never talks to the model.</a:t>
            </a:r>
            <a:endParaRPr b="0" i="0" sz="6300" u="none" cap="none" strike="noStrike">
              <a:solidFill>
                <a:schemeClr val="dk1"/>
              </a:solidFill>
              <a:latin typeface="Calibri"/>
              <a:ea typeface="Calibri"/>
              <a:cs typeface="Calibri"/>
              <a:sym typeface="Calibri"/>
            </a:endParaRPr>
          </a:p>
        </p:txBody>
      </p:sp>
      <p:sp>
        <p:nvSpPr>
          <p:cNvPr id="70" name="Google Shape;70;p3"/>
          <p:cNvSpPr/>
          <p:nvPr/>
        </p:nvSpPr>
        <p:spPr>
          <a:xfrm>
            <a:off x="952500" y="3923467"/>
            <a:ext cx="13735050" cy="46482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2400"/>
              <a:buFont typeface="Inter"/>
              <a:buNone/>
            </a:pPr>
            <a:r>
              <a:rPr b="0" i="0" lang="en-US" sz="2400" u="none" cap="none" strike="noStrike">
                <a:solidFill>
                  <a:srgbClr val="B8BCC4"/>
                </a:solidFill>
                <a:latin typeface="Inter"/>
                <a:ea typeface="Inter"/>
                <a:cs typeface="Inter"/>
                <a:sym typeface="Inter"/>
              </a:rPr>
              <a:t>They poison the documents the model is going to retrieve.</a:t>
            </a:r>
            <a:endParaRPr b="0" i="0" sz="2400" u="none" cap="none" strike="noStrike">
              <a:solidFill>
                <a:schemeClr val="dk1"/>
              </a:solidFill>
              <a:latin typeface="Calibri"/>
              <a:ea typeface="Calibri"/>
              <a:cs typeface="Calibri"/>
              <a:sym typeface="Calibri"/>
            </a:endParaRPr>
          </a:p>
        </p:txBody>
      </p:sp>
      <p:sp>
        <p:nvSpPr>
          <p:cNvPr id="71" name="Google Shape;71;p3"/>
          <p:cNvSpPr/>
          <p:nvPr/>
        </p:nvSpPr>
        <p:spPr>
          <a:xfrm>
            <a:off x="952500" y="4959787"/>
            <a:ext cx="2895600" cy="1809750"/>
          </a:xfrm>
          <a:prstGeom prst="rect">
            <a:avLst/>
          </a:prstGeom>
          <a:solidFill>
            <a:srgbClr val="15181D"/>
          </a:solidFill>
          <a:ln cap="flat" cmpd="sng" w="9525">
            <a:solidFill>
              <a:srgbClr val="2E3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1188720" y="5346502"/>
            <a:ext cx="249936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[01] </a:t>
            </a:r>
            <a:r>
              <a:rPr b="0" i="0" lang="en-US" sz="1800" u="none" cap="none" strike="noStrike">
                <a:solidFill>
                  <a:srgbClr val="7A808A"/>
                </a:solidFill>
                <a:latin typeface="JetBrains Mono"/>
                <a:ea typeface="JetBrains Mono"/>
                <a:cs typeface="JetBrains Mono"/>
                <a:sym typeface="JetBrains Mono"/>
              </a:rPr>
              <a:t>USER</a:t>
            </a:r>
            <a:endParaRPr b="0" i="0" sz="1800" u="none" cap="none" strike="noStrike">
              <a:solidFill>
                <a:schemeClr val="dk1"/>
              </a:solidFill>
              <a:latin typeface="Calibri"/>
              <a:ea typeface="Calibri"/>
              <a:cs typeface="Calibri"/>
              <a:sym typeface="Calibri"/>
            </a:endParaRPr>
          </a:p>
        </p:txBody>
      </p:sp>
      <p:sp>
        <p:nvSpPr>
          <p:cNvPr id="73" name="Google Shape;73;p3"/>
          <p:cNvSpPr/>
          <p:nvPr/>
        </p:nvSpPr>
        <p:spPr>
          <a:xfrm>
            <a:off x="1188720" y="5742742"/>
            <a:ext cx="2499360" cy="6781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Asks a benign question</a:t>
            </a:r>
            <a:endParaRPr b="0" i="0" sz="1800" u="none" cap="none" strike="noStrike">
              <a:solidFill>
                <a:schemeClr val="dk1"/>
              </a:solidFill>
              <a:latin typeface="Calibri"/>
              <a:ea typeface="Calibri"/>
              <a:cs typeface="Calibri"/>
              <a:sym typeface="Calibri"/>
            </a:endParaRPr>
          </a:p>
        </p:txBody>
      </p:sp>
      <p:sp>
        <p:nvSpPr>
          <p:cNvPr id="74" name="Google Shape;74;p3"/>
          <p:cNvSpPr/>
          <p:nvPr/>
        </p:nvSpPr>
        <p:spPr>
          <a:xfrm>
            <a:off x="3810000" y="4959787"/>
            <a:ext cx="552450" cy="18478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4F545D"/>
              </a:buClr>
              <a:buSzPts val="1950"/>
              <a:buFont typeface="JetBrains Mono"/>
              <a:buNone/>
            </a:pPr>
            <a:r>
              <a:rPr b="0" i="0" lang="en-US" sz="1950" u="none" cap="none" strike="noStrike">
                <a:solidFill>
                  <a:srgbClr val="4F545D"/>
                </a:solidFill>
                <a:latin typeface="JetBrains Mono"/>
                <a:ea typeface="JetBrains Mono"/>
                <a:cs typeface="JetBrains Mono"/>
                <a:sym typeface="JetBrains Mono"/>
              </a:rPr>
              <a:t>──▶</a:t>
            </a:r>
            <a:endParaRPr b="0" i="0" sz="1950" u="none" cap="none" strike="noStrike">
              <a:solidFill>
                <a:schemeClr val="dk1"/>
              </a:solidFill>
              <a:latin typeface="Calibri"/>
              <a:ea typeface="Calibri"/>
              <a:cs typeface="Calibri"/>
              <a:sym typeface="Calibri"/>
            </a:endParaRPr>
          </a:p>
        </p:txBody>
      </p:sp>
      <p:sp>
        <p:nvSpPr>
          <p:cNvPr id="75" name="Google Shape;75;p3"/>
          <p:cNvSpPr/>
          <p:nvPr/>
        </p:nvSpPr>
        <p:spPr>
          <a:xfrm>
            <a:off x="4324350" y="4959787"/>
            <a:ext cx="2895600" cy="1809750"/>
          </a:xfrm>
          <a:prstGeom prst="rect">
            <a:avLst/>
          </a:prstGeom>
          <a:solidFill>
            <a:srgbClr val="15181D"/>
          </a:solidFill>
          <a:ln cap="flat" cmpd="sng" w="9525">
            <a:solidFill>
              <a:srgbClr val="2E3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4560570" y="5506521"/>
            <a:ext cx="249936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[02] </a:t>
            </a:r>
            <a:r>
              <a:rPr b="0" i="0" lang="en-US" sz="1800" u="none" cap="none" strike="noStrike">
                <a:solidFill>
                  <a:srgbClr val="7A808A"/>
                </a:solidFill>
                <a:latin typeface="JetBrains Mono"/>
                <a:ea typeface="JetBrains Mono"/>
                <a:cs typeface="JetBrains Mono"/>
                <a:sym typeface="JetBrains Mono"/>
              </a:rPr>
              <a:t>ASSISTANT</a:t>
            </a:r>
            <a:endParaRPr b="0" i="0" sz="1800" u="none" cap="none" strike="noStrike">
              <a:solidFill>
                <a:schemeClr val="dk1"/>
              </a:solidFill>
              <a:latin typeface="Calibri"/>
              <a:ea typeface="Calibri"/>
              <a:cs typeface="Calibri"/>
              <a:sym typeface="Calibri"/>
            </a:endParaRPr>
          </a:p>
        </p:txBody>
      </p:sp>
      <p:sp>
        <p:nvSpPr>
          <p:cNvPr id="77" name="Google Shape;77;p3"/>
          <p:cNvSpPr/>
          <p:nvPr/>
        </p:nvSpPr>
        <p:spPr>
          <a:xfrm>
            <a:off x="4560570" y="5902762"/>
            <a:ext cx="2499360"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Retrieves to answer</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7181850" y="4959787"/>
            <a:ext cx="552450" cy="18478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4F545D"/>
              </a:buClr>
              <a:buSzPts val="1950"/>
              <a:buFont typeface="JetBrains Mono"/>
              <a:buNone/>
            </a:pPr>
            <a:r>
              <a:rPr b="0" i="0" lang="en-US" sz="1950" u="none" cap="none" strike="noStrike">
                <a:solidFill>
                  <a:srgbClr val="4F545D"/>
                </a:solidFill>
                <a:latin typeface="JetBrains Mono"/>
                <a:ea typeface="JetBrains Mono"/>
                <a:cs typeface="JetBrains Mono"/>
                <a:sym typeface="JetBrains Mono"/>
              </a:rPr>
              <a:t>──▶</a:t>
            </a:r>
            <a:endParaRPr b="0" i="0" sz="1950" u="none" cap="none" strike="noStrike">
              <a:solidFill>
                <a:schemeClr val="dk1"/>
              </a:solidFill>
              <a:latin typeface="Calibri"/>
              <a:ea typeface="Calibri"/>
              <a:cs typeface="Calibri"/>
              <a:sym typeface="Calibri"/>
            </a:endParaRPr>
          </a:p>
        </p:txBody>
      </p:sp>
      <p:sp>
        <p:nvSpPr>
          <p:cNvPr id="79" name="Google Shape;79;p3"/>
          <p:cNvSpPr/>
          <p:nvPr/>
        </p:nvSpPr>
        <p:spPr>
          <a:xfrm>
            <a:off x="7696200" y="4959787"/>
            <a:ext cx="2895600" cy="1809750"/>
          </a:xfrm>
          <a:prstGeom prst="rect">
            <a:avLst/>
          </a:prstGeom>
          <a:solidFill>
            <a:srgbClr val="1518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932420" y="5356027"/>
            <a:ext cx="2499360" cy="6400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[03] UNTRUSTED DOC</a:t>
            </a:r>
            <a:endParaRPr b="0" i="0" sz="1800" u="none" cap="none" strike="noStrike">
              <a:solidFill>
                <a:schemeClr val="dk1"/>
              </a:solidFill>
              <a:latin typeface="Calibri"/>
              <a:ea typeface="Calibri"/>
              <a:cs typeface="Calibri"/>
              <a:sym typeface="Calibri"/>
            </a:endParaRPr>
          </a:p>
        </p:txBody>
      </p:sp>
      <p:sp>
        <p:nvSpPr>
          <p:cNvPr id="81" name="Google Shape;81;p3"/>
          <p:cNvSpPr/>
          <p:nvPr/>
        </p:nvSpPr>
        <p:spPr>
          <a:xfrm>
            <a:off x="7932420" y="6053257"/>
            <a:ext cx="2499360"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Hidden trigger text</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10553700" y="4959787"/>
            <a:ext cx="552450" cy="18478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4F545D"/>
              </a:buClr>
              <a:buSzPts val="1950"/>
              <a:buFont typeface="JetBrains Mono"/>
              <a:buNone/>
            </a:pPr>
            <a:r>
              <a:rPr b="0" i="0" lang="en-US" sz="1950" u="none" cap="none" strike="noStrike">
                <a:solidFill>
                  <a:srgbClr val="4F545D"/>
                </a:solidFill>
                <a:latin typeface="JetBrains Mono"/>
                <a:ea typeface="JetBrains Mono"/>
                <a:cs typeface="JetBrains Mono"/>
                <a:sym typeface="JetBrains Mono"/>
              </a:rPr>
              <a:t>──▶</a:t>
            </a:r>
            <a:endParaRPr b="0" i="0" sz="1950" u="none" cap="none" strike="noStrike">
              <a:solidFill>
                <a:schemeClr val="dk1"/>
              </a:solidFill>
              <a:latin typeface="Calibri"/>
              <a:ea typeface="Calibri"/>
              <a:cs typeface="Calibri"/>
              <a:sym typeface="Calibri"/>
            </a:endParaRPr>
          </a:p>
        </p:txBody>
      </p:sp>
      <p:sp>
        <p:nvSpPr>
          <p:cNvPr id="83" name="Google Shape;83;p3"/>
          <p:cNvSpPr/>
          <p:nvPr/>
        </p:nvSpPr>
        <p:spPr>
          <a:xfrm>
            <a:off x="11068050" y="4959787"/>
            <a:ext cx="2895600" cy="1809750"/>
          </a:xfrm>
          <a:prstGeom prst="rect">
            <a:avLst/>
          </a:prstGeom>
          <a:solidFill>
            <a:srgbClr val="1518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11304270" y="5196007"/>
            <a:ext cx="2499360" cy="6400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[04] MERGED PROMPT</a:t>
            </a:r>
            <a:endParaRPr b="0" i="0" sz="1800" u="none" cap="none" strike="noStrike">
              <a:solidFill>
                <a:schemeClr val="dk1"/>
              </a:solidFill>
              <a:latin typeface="Calibri"/>
              <a:ea typeface="Calibri"/>
              <a:cs typeface="Calibri"/>
              <a:sym typeface="Calibri"/>
            </a:endParaRPr>
          </a:p>
        </p:txBody>
      </p:sp>
      <p:sp>
        <p:nvSpPr>
          <p:cNvPr id="85" name="Google Shape;85;p3"/>
          <p:cNvSpPr/>
          <p:nvPr/>
        </p:nvSpPr>
        <p:spPr>
          <a:xfrm>
            <a:off x="11304270" y="5893237"/>
            <a:ext cx="2499360" cy="6781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User + doc fed to model</a:t>
            </a:r>
            <a:endParaRPr b="0" i="0" sz="1800" u="none" cap="none" strike="noStrike">
              <a:solidFill>
                <a:schemeClr val="dk1"/>
              </a:solidFill>
              <a:latin typeface="Calibri"/>
              <a:ea typeface="Calibri"/>
              <a:cs typeface="Calibri"/>
              <a:sym typeface="Calibri"/>
            </a:endParaRPr>
          </a:p>
        </p:txBody>
      </p:sp>
      <p:sp>
        <p:nvSpPr>
          <p:cNvPr id="86" name="Google Shape;86;p3"/>
          <p:cNvSpPr/>
          <p:nvPr/>
        </p:nvSpPr>
        <p:spPr>
          <a:xfrm>
            <a:off x="13925550" y="4959787"/>
            <a:ext cx="552450" cy="18478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4F545D"/>
              </a:buClr>
              <a:buSzPts val="1950"/>
              <a:buFont typeface="JetBrains Mono"/>
              <a:buNone/>
            </a:pPr>
            <a:r>
              <a:rPr b="0" i="0" lang="en-US" sz="1950" u="none" cap="none" strike="noStrike">
                <a:solidFill>
                  <a:srgbClr val="4F545D"/>
                </a:solidFill>
                <a:latin typeface="JetBrains Mono"/>
                <a:ea typeface="JetBrains Mono"/>
                <a:cs typeface="JetBrains Mono"/>
                <a:sym typeface="JetBrains Mono"/>
              </a:rPr>
              <a:t>──▶</a:t>
            </a:r>
            <a:endParaRPr b="0" i="0" sz="1950" u="none" cap="none" strike="noStrike">
              <a:solidFill>
                <a:schemeClr val="dk1"/>
              </a:solidFill>
              <a:latin typeface="Calibri"/>
              <a:ea typeface="Calibri"/>
              <a:cs typeface="Calibri"/>
              <a:sym typeface="Calibri"/>
            </a:endParaRPr>
          </a:p>
        </p:txBody>
      </p:sp>
      <p:sp>
        <p:nvSpPr>
          <p:cNvPr id="87" name="Google Shape;87;p3"/>
          <p:cNvSpPr/>
          <p:nvPr/>
        </p:nvSpPr>
        <p:spPr>
          <a:xfrm>
            <a:off x="14439900" y="4959787"/>
            <a:ext cx="2895600" cy="1809750"/>
          </a:xfrm>
          <a:prstGeom prst="rect">
            <a:avLst/>
          </a:prstGeom>
          <a:solidFill>
            <a:srgbClr val="DC5050">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14676120" y="5196007"/>
            <a:ext cx="2499360" cy="6400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[05] HIJACKED OUTPUT</a:t>
            </a:r>
            <a:endParaRPr b="0" i="0" sz="1800" u="none" cap="none" strike="noStrike">
              <a:solidFill>
                <a:schemeClr val="dk1"/>
              </a:solidFill>
              <a:latin typeface="Calibri"/>
              <a:ea typeface="Calibri"/>
              <a:cs typeface="Calibri"/>
              <a:sym typeface="Calibri"/>
            </a:endParaRPr>
          </a:p>
        </p:txBody>
      </p:sp>
      <p:sp>
        <p:nvSpPr>
          <p:cNvPr id="89" name="Google Shape;89;p3"/>
          <p:cNvSpPr/>
          <p:nvPr/>
        </p:nvSpPr>
        <p:spPr>
          <a:xfrm>
            <a:off x="14676120" y="5893237"/>
            <a:ext cx="2499360" cy="6781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Acts on attacker intent</a:t>
            </a:r>
            <a:endParaRPr b="0" i="0" sz="1800" u="none" cap="none" strike="noStrike">
              <a:solidFill>
                <a:schemeClr val="dk1"/>
              </a:solidFill>
              <a:latin typeface="Calibri"/>
              <a:ea typeface="Calibri"/>
              <a:cs typeface="Calibri"/>
              <a:sym typeface="Calibri"/>
            </a:endParaRPr>
          </a:p>
        </p:txBody>
      </p:sp>
      <p:sp>
        <p:nvSpPr>
          <p:cNvPr id="90" name="Google Shape;90;p3"/>
          <p:cNvSpPr/>
          <p:nvPr/>
        </p:nvSpPr>
        <p:spPr>
          <a:xfrm>
            <a:off x="952500" y="7855387"/>
            <a:ext cx="1638300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952500" y="8205907"/>
            <a:ext cx="5389351"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01 </a:t>
            </a:r>
            <a:r>
              <a:rPr b="0" i="0" lang="en-US" sz="1800" u="none" cap="none" strike="noStrike">
                <a:solidFill>
                  <a:srgbClr val="7A808A"/>
                </a:solidFill>
                <a:latin typeface="JetBrains Mono"/>
                <a:ea typeface="JetBrains Mono"/>
                <a:cs typeface="JetBrains Mono"/>
                <a:sym typeface="JetBrains Mono"/>
              </a:rPr>
              <a:t>DEFENSE IN DEPTH</a:t>
            </a:r>
            <a:endParaRPr b="0" i="0" sz="1800" u="none" cap="none" strike="noStrike">
              <a:solidFill>
                <a:schemeClr val="dk1"/>
              </a:solidFill>
              <a:latin typeface="Calibri"/>
              <a:ea typeface="Calibri"/>
              <a:cs typeface="Calibri"/>
              <a:sym typeface="Calibri"/>
            </a:endParaRPr>
          </a:p>
        </p:txBody>
      </p:sp>
      <p:sp>
        <p:nvSpPr>
          <p:cNvPr id="92" name="Google Shape;92;p3"/>
          <p:cNvSpPr/>
          <p:nvPr/>
        </p:nvSpPr>
        <p:spPr>
          <a:xfrm>
            <a:off x="952500" y="8602146"/>
            <a:ext cx="5389351"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rgbClr val="B8BCC4"/>
                </a:solidFill>
                <a:latin typeface="Inter"/>
                <a:ea typeface="Inter"/>
                <a:cs typeface="Inter"/>
                <a:sym typeface="Inter"/>
              </a:rPr>
              <a:t>Single mitigations get adapted around.</a:t>
            </a:r>
            <a:endParaRPr b="0" i="0" sz="2100" u="none" cap="none" strike="noStrike">
              <a:solidFill>
                <a:schemeClr val="dk1"/>
              </a:solidFill>
              <a:latin typeface="Calibri"/>
              <a:ea typeface="Calibri"/>
              <a:cs typeface="Calibri"/>
              <a:sym typeface="Calibri"/>
            </a:endParaRPr>
          </a:p>
        </p:txBody>
      </p:sp>
      <p:sp>
        <p:nvSpPr>
          <p:cNvPr id="93" name="Google Shape;93;p3"/>
          <p:cNvSpPr/>
          <p:nvPr/>
        </p:nvSpPr>
        <p:spPr>
          <a:xfrm>
            <a:off x="6527780" y="8205907"/>
            <a:ext cx="5389351"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02 </a:t>
            </a:r>
            <a:r>
              <a:rPr b="0" i="0" lang="en-US" sz="1800" u="none" cap="none" strike="noStrike">
                <a:solidFill>
                  <a:srgbClr val="7A808A"/>
                </a:solidFill>
                <a:latin typeface="JetBrains Mono"/>
                <a:ea typeface="JetBrains Mono"/>
                <a:cs typeface="JetBrains Mono"/>
                <a:sym typeface="JetBrains Mono"/>
              </a:rPr>
              <a:t>CAPABILITY ≠ SAFETY</a:t>
            </a:r>
            <a:endParaRPr b="0" i="0" sz="1800" u="none" cap="none" strike="noStrike">
              <a:solidFill>
                <a:schemeClr val="dk1"/>
              </a:solidFill>
              <a:latin typeface="Calibri"/>
              <a:ea typeface="Calibri"/>
              <a:cs typeface="Calibri"/>
              <a:sym typeface="Calibri"/>
            </a:endParaRPr>
          </a:p>
        </p:txBody>
      </p:sp>
      <p:sp>
        <p:nvSpPr>
          <p:cNvPr id="94" name="Google Shape;94;p3"/>
          <p:cNvSpPr/>
          <p:nvPr/>
        </p:nvSpPr>
        <p:spPr>
          <a:xfrm>
            <a:off x="6527780" y="8602146"/>
            <a:ext cx="5389351"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rgbClr val="B8BCC4"/>
                </a:solidFill>
                <a:latin typeface="Inter"/>
                <a:ea typeface="Inter"/>
                <a:cs typeface="Inter"/>
                <a:sym typeface="Inter"/>
              </a:rPr>
              <a:t>Better instruction-following can make injection easier.</a:t>
            </a:r>
            <a:endParaRPr b="0" i="0" sz="2100" u="none" cap="none" strike="noStrike">
              <a:solidFill>
                <a:schemeClr val="dk1"/>
              </a:solidFill>
              <a:latin typeface="Calibri"/>
              <a:ea typeface="Calibri"/>
              <a:cs typeface="Calibri"/>
              <a:sym typeface="Calibri"/>
            </a:endParaRPr>
          </a:p>
        </p:txBody>
      </p:sp>
      <p:sp>
        <p:nvSpPr>
          <p:cNvPr id="95" name="Google Shape;95;p3"/>
          <p:cNvSpPr/>
          <p:nvPr/>
        </p:nvSpPr>
        <p:spPr>
          <a:xfrm>
            <a:off x="12103060" y="8205907"/>
            <a:ext cx="5389413"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03 </a:t>
            </a:r>
            <a:r>
              <a:rPr b="0" i="0" lang="en-US" sz="1800" u="none" cap="none" strike="noStrike">
                <a:solidFill>
                  <a:srgbClr val="7A808A"/>
                </a:solidFill>
                <a:latin typeface="JetBrains Mono"/>
                <a:ea typeface="JetBrains Mono"/>
                <a:cs typeface="JetBrains Mono"/>
                <a:sym typeface="JetBrains Mono"/>
              </a:rPr>
              <a:t>ADAPTIVE EVAL</a:t>
            </a:r>
            <a:endParaRPr b="0" i="0" sz="1800" u="none" cap="none" strike="noStrike">
              <a:solidFill>
                <a:schemeClr val="dk1"/>
              </a:solidFill>
              <a:latin typeface="Calibri"/>
              <a:ea typeface="Calibri"/>
              <a:cs typeface="Calibri"/>
              <a:sym typeface="Calibri"/>
            </a:endParaRPr>
          </a:p>
        </p:txBody>
      </p:sp>
      <p:sp>
        <p:nvSpPr>
          <p:cNvPr id="96" name="Google Shape;96;p3"/>
          <p:cNvSpPr/>
          <p:nvPr/>
        </p:nvSpPr>
        <p:spPr>
          <a:xfrm>
            <a:off x="12103060" y="8602146"/>
            <a:ext cx="5389413"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rgbClr val="B8BCC4"/>
                </a:solidFill>
                <a:latin typeface="Inter"/>
                <a:ea typeface="Inter"/>
                <a:cs typeface="Inter"/>
                <a:sym typeface="Inter"/>
              </a:rPr>
              <a:t>Static benchmarks understate real exposure.</a:t>
            </a:r>
            <a:endParaRPr b="0" i="0" sz="2100" u="none" cap="none" strike="noStrike">
              <a:solidFill>
                <a:schemeClr val="dk1"/>
              </a:solidFill>
              <a:latin typeface="Calibri"/>
              <a:ea typeface="Calibri"/>
              <a:cs typeface="Calibri"/>
              <a:sym typeface="Calibri"/>
            </a:endParaRPr>
          </a:p>
        </p:txBody>
      </p:sp>
      <p:sp>
        <p:nvSpPr>
          <p:cNvPr id="97" name="Google Shape;97;p3"/>
          <p:cNvSpPr/>
          <p:nvPr/>
        </p:nvSpPr>
        <p:spPr>
          <a:xfrm>
            <a:off x="952500" y="9452610"/>
            <a:ext cx="753471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ref: </a:t>
            </a:r>
            <a:r>
              <a:rPr b="0" i="0" lang="en-US" sz="1800" u="none" cap="none" strike="noStrike">
                <a:solidFill>
                  <a:srgbClr val="7A808A"/>
                </a:solidFill>
                <a:latin typeface="JetBrains Mono"/>
                <a:ea typeface="JetBrains Mono"/>
                <a:cs typeface="JetBrains Mono"/>
                <a:sym typeface="JetBrains Mono"/>
              </a:rPr>
              <a:t>Shi et al. — DeepMind 2025 · arXiv:2505.14534</a:t>
            </a:r>
            <a:endParaRPr b="0" i="0" sz="1800" u="none" cap="none" strike="noStrike">
              <a:solidFill>
                <a:schemeClr val="dk1"/>
              </a:solidFill>
              <a:latin typeface="Calibri"/>
              <a:ea typeface="Calibri"/>
              <a:cs typeface="Calibri"/>
              <a:sym typeface="Calibri"/>
            </a:endParaRPr>
          </a:p>
        </p:txBody>
      </p:sp>
      <p:sp>
        <p:nvSpPr>
          <p:cNvPr id="98" name="Google Shape;98;p3"/>
          <p:cNvSpPr/>
          <p:nvPr/>
        </p:nvSpPr>
        <p:spPr>
          <a:xfrm>
            <a:off x="15503605" y="9452610"/>
            <a:ext cx="1831896"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threat_model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103" name="Shape 103"/>
        <p:cNvGrpSpPr/>
        <p:nvPr/>
      </p:nvGrpSpPr>
      <p:grpSpPr>
        <a:xfrm>
          <a:off x="0" y="0"/>
          <a:ext cx="0" cy="0"/>
          <a:chOff x="0" y="0"/>
          <a:chExt cx="0" cy="0"/>
        </a:xfrm>
      </p:grpSpPr>
      <p:sp>
        <p:nvSpPr>
          <p:cNvPr id="104" name="Google Shape;104;p4"/>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04 / 11</a:t>
            </a:r>
            <a:endParaRPr b="0" i="0" sz="1800" u="none" cap="none" strike="noStrike">
              <a:solidFill>
                <a:schemeClr val="dk1"/>
              </a:solidFill>
              <a:latin typeface="Calibri"/>
              <a:ea typeface="Calibri"/>
              <a:cs typeface="Calibri"/>
              <a:sym typeface="Calibri"/>
            </a:endParaRPr>
          </a:p>
        </p:txBody>
      </p:sp>
      <p:sp>
        <p:nvSpPr>
          <p:cNvPr id="105" name="Google Shape;105;p4"/>
          <p:cNvSpPr/>
          <p:nvPr/>
        </p:nvSpPr>
        <p:spPr>
          <a:xfrm>
            <a:off x="15503605" y="533400"/>
            <a:ext cx="1831896"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PROJECT GOAL</a:t>
            </a:r>
            <a:endParaRPr b="0" i="0" sz="1800" u="none" cap="none" strike="noStrike">
              <a:solidFill>
                <a:schemeClr val="dk1"/>
              </a:solidFill>
              <a:latin typeface="Calibri"/>
              <a:ea typeface="Calibri"/>
              <a:cs typeface="Calibri"/>
              <a:sym typeface="Calibri"/>
            </a:endParaRPr>
          </a:p>
        </p:txBody>
      </p:sp>
      <p:sp>
        <p:nvSpPr>
          <p:cNvPr id="106" name="Google Shape;106;p4"/>
          <p:cNvSpPr/>
          <p:nvPr/>
        </p:nvSpPr>
        <p:spPr>
          <a:xfrm>
            <a:off x="952500" y="1333500"/>
            <a:ext cx="16874490" cy="1702237"/>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E8EAED"/>
              </a:buClr>
              <a:buSzPts val="6300"/>
              <a:buFont typeface="Inter"/>
              <a:buNone/>
            </a:pPr>
            <a:r>
              <a:rPr b="1" i="0" lang="en-US" sz="6300" u="none" cap="none" strike="noStrike">
                <a:solidFill>
                  <a:srgbClr val="E8EAED"/>
                </a:solidFill>
                <a:latin typeface="Inter"/>
                <a:ea typeface="Inter"/>
                <a:cs typeface="Inter"/>
                <a:sym typeface="Inter"/>
              </a:rPr>
              <a:t>Build it weak. Defend it. Measure the gap.</a:t>
            </a:r>
            <a:endParaRPr b="0" i="0" sz="6300" u="none" cap="none" strike="noStrike">
              <a:solidFill>
                <a:schemeClr val="dk1"/>
              </a:solidFill>
              <a:latin typeface="Calibri"/>
              <a:ea typeface="Calibri"/>
              <a:cs typeface="Calibri"/>
              <a:sym typeface="Calibri"/>
            </a:endParaRPr>
          </a:p>
        </p:txBody>
      </p:sp>
      <p:sp>
        <p:nvSpPr>
          <p:cNvPr id="107" name="Google Shape;107;p4"/>
          <p:cNvSpPr/>
          <p:nvPr/>
        </p:nvSpPr>
        <p:spPr>
          <a:xfrm>
            <a:off x="952500" y="3226237"/>
            <a:ext cx="13735050" cy="46482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2400"/>
              <a:buFont typeface="Inter"/>
              <a:buNone/>
            </a:pPr>
            <a:r>
              <a:rPr b="0" i="0" lang="en-US" sz="2400" u="none" cap="none" strike="noStrike">
                <a:solidFill>
                  <a:srgbClr val="B8BCC4"/>
                </a:solidFill>
                <a:latin typeface="Inter"/>
                <a:ea typeface="Inter"/>
                <a:cs typeface="Inter"/>
                <a:sym typeface="Inter"/>
              </a:rPr>
              <a:t>Same task. Same data. Two pipelines. One scenario set.</a:t>
            </a:r>
            <a:endParaRPr b="0" i="0" sz="2400" u="none" cap="none" strike="noStrike">
              <a:solidFill>
                <a:schemeClr val="dk1"/>
              </a:solidFill>
              <a:latin typeface="Calibri"/>
              <a:ea typeface="Calibri"/>
              <a:cs typeface="Calibri"/>
              <a:sym typeface="Calibri"/>
            </a:endParaRPr>
          </a:p>
        </p:txBody>
      </p:sp>
      <p:sp>
        <p:nvSpPr>
          <p:cNvPr id="108" name="Google Shape;108;p4"/>
          <p:cNvSpPr/>
          <p:nvPr/>
        </p:nvSpPr>
        <p:spPr>
          <a:xfrm>
            <a:off x="952500" y="4414957"/>
            <a:ext cx="5206961" cy="3379470"/>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950595" y="7788712"/>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950595" y="7662982"/>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6028015" y="7788712"/>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6153745" y="7662982"/>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303020" y="4803577"/>
            <a:ext cx="464109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STEP_01</a:t>
            </a:r>
            <a:endParaRPr b="0" i="0" sz="1800" u="none" cap="none" strike="noStrike">
              <a:solidFill>
                <a:schemeClr val="dk1"/>
              </a:solidFill>
              <a:latin typeface="Calibri"/>
              <a:ea typeface="Calibri"/>
              <a:cs typeface="Calibri"/>
              <a:sym typeface="Calibri"/>
            </a:endParaRPr>
          </a:p>
        </p:txBody>
      </p:sp>
      <p:sp>
        <p:nvSpPr>
          <p:cNvPr id="114" name="Google Shape;114;p4"/>
          <p:cNvSpPr/>
          <p:nvPr/>
        </p:nvSpPr>
        <p:spPr>
          <a:xfrm>
            <a:off x="1303020" y="5218867"/>
            <a:ext cx="4641098" cy="4533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700"/>
              <a:buFont typeface="Inter"/>
              <a:buNone/>
            </a:pPr>
            <a:r>
              <a:rPr b="1" i="0" lang="en-US" sz="2700" u="none" cap="none" strike="noStrike">
                <a:solidFill>
                  <a:srgbClr val="E8EAED"/>
                </a:solidFill>
                <a:latin typeface="Inter"/>
                <a:ea typeface="Inter"/>
                <a:cs typeface="Inter"/>
                <a:sym typeface="Inter"/>
              </a:rPr>
              <a:t>Vulnerable baseline</a:t>
            </a:r>
            <a:endParaRPr b="0" i="0" sz="2700" u="none" cap="none" strike="noStrike">
              <a:solidFill>
                <a:schemeClr val="dk1"/>
              </a:solidFill>
              <a:latin typeface="Calibri"/>
              <a:ea typeface="Calibri"/>
              <a:cs typeface="Calibri"/>
              <a:sym typeface="Calibri"/>
            </a:endParaRPr>
          </a:p>
        </p:txBody>
      </p:sp>
      <p:sp>
        <p:nvSpPr>
          <p:cNvPr id="115" name="Google Shape;115;p4"/>
          <p:cNvSpPr/>
          <p:nvPr/>
        </p:nvSpPr>
        <p:spPr>
          <a:xfrm>
            <a:off x="1303020" y="5805607"/>
            <a:ext cx="4641098" cy="12382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rgbClr val="B8BCC4"/>
                </a:solidFill>
                <a:latin typeface="Inter"/>
                <a:ea typeface="Inter"/>
                <a:cs typeface="Inter"/>
                <a:sym typeface="Inter"/>
              </a:rPr>
              <a:t>Worst-plausible starting point. User intent and retrieved content merged. Minimal controls.</a:t>
            </a:r>
            <a:endParaRPr b="0" i="0" sz="2100" u="none" cap="none" strike="noStrike">
              <a:solidFill>
                <a:schemeClr val="dk1"/>
              </a:solidFill>
              <a:latin typeface="Calibri"/>
              <a:ea typeface="Calibri"/>
              <a:cs typeface="Calibri"/>
              <a:sym typeface="Calibri"/>
            </a:endParaRPr>
          </a:p>
        </p:txBody>
      </p:sp>
      <p:sp>
        <p:nvSpPr>
          <p:cNvPr id="116" name="Google Shape;116;p4"/>
          <p:cNvSpPr/>
          <p:nvPr/>
        </p:nvSpPr>
        <p:spPr>
          <a:xfrm>
            <a:off x="6540461" y="4414957"/>
            <a:ext cx="5207020" cy="3379470"/>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6538556" y="7788712"/>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6538556" y="7662982"/>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11616035" y="7788712"/>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11741765" y="7662982"/>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6890981" y="4803577"/>
            <a:ext cx="4641159"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STEP_02</a:t>
            </a:r>
            <a:endParaRPr b="0" i="0" sz="1800" u="none" cap="none" strike="noStrike">
              <a:solidFill>
                <a:schemeClr val="dk1"/>
              </a:solidFill>
              <a:latin typeface="Calibri"/>
              <a:ea typeface="Calibri"/>
              <a:cs typeface="Calibri"/>
              <a:sym typeface="Calibri"/>
            </a:endParaRPr>
          </a:p>
        </p:txBody>
      </p:sp>
      <p:sp>
        <p:nvSpPr>
          <p:cNvPr id="122" name="Google Shape;122;p4"/>
          <p:cNvSpPr/>
          <p:nvPr/>
        </p:nvSpPr>
        <p:spPr>
          <a:xfrm>
            <a:off x="6890981" y="5218867"/>
            <a:ext cx="4641159" cy="4533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700"/>
              <a:buFont typeface="Inter"/>
              <a:buNone/>
            </a:pPr>
            <a:r>
              <a:rPr b="1" i="0" lang="en-US" sz="2700" u="none" cap="none" strike="noStrike">
                <a:solidFill>
                  <a:srgbClr val="E8EAED"/>
                </a:solidFill>
                <a:latin typeface="Inter"/>
                <a:ea typeface="Inter"/>
                <a:cs typeface="Inter"/>
                <a:sym typeface="Inter"/>
              </a:rPr>
              <a:t>Defended version</a:t>
            </a:r>
            <a:endParaRPr b="0" i="0" sz="2700" u="none" cap="none" strike="noStrike">
              <a:solidFill>
                <a:schemeClr val="dk1"/>
              </a:solidFill>
              <a:latin typeface="Calibri"/>
              <a:ea typeface="Calibri"/>
              <a:cs typeface="Calibri"/>
              <a:sym typeface="Calibri"/>
            </a:endParaRPr>
          </a:p>
        </p:txBody>
      </p:sp>
      <p:sp>
        <p:nvSpPr>
          <p:cNvPr id="123" name="Google Shape;123;p4"/>
          <p:cNvSpPr/>
          <p:nvPr/>
        </p:nvSpPr>
        <p:spPr>
          <a:xfrm>
            <a:off x="6890981" y="5805607"/>
            <a:ext cx="4641159" cy="1638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rgbClr val="B8BCC4"/>
                </a:solidFill>
                <a:latin typeface="Inter"/>
                <a:ea typeface="Inter"/>
                <a:cs typeface="Inter"/>
                <a:sym typeface="Inter"/>
              </a:rPr>
              <a:t>Five layered controls: source labeling, prompt separation, tool allowlist, output validation, approval gate.</a:t>
            </a:r>
            <a:endParaRPr b="0" i="0" sz="2100" u="none" cap="none" strike="noStrike">
              <a:solidFill>
                <a:schemeClr val="dk1"/>
              </a:solidFill>
              <a:latin typeface="Calibri"/>
              <a:ea typeface="Calibri"/>
              <a:cs typeface="Calibri"/>
              <a:sym typeface="Calibri"/>
            </a:endParaRPr>
          </a:p>
        </p:txBody>
      </p:sp>
      <p:sp>
        <p:nvSpPr>
          <p:cNvPr id="124" name="Google Shape;124;p4"/>
          <p:cNvSpPr/>
          <p:nvPr/>
        </p:nvSpPr>
        <p:spPr>
          <a:xfrm>
            <a:off x="12128481" y="4414957"/>
            <a:ext cx="5206961" cy="3379470"/>
          </a:xfrm>
          <a:prstGeom prst="rect">
            <a:avLst/>
          </a:prstGeom>
          <a:solidFill>
            <a:srgbClr val="78FFB4">
              <a:alpha val="5098"/>
            </a:srgbClr>
          </a:solidFill>
          <a:ln cap="flat" cmpd="sng" w="9525">
            <a:solidFill>
              <a:srgbClr val="5B6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12126575" y="7788712"/>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12126575" y="7662982"/>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17203995" y="7788712"/>
            <a:ext cx="133350" cy="9525"/>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17329725" y="7662982"/>
            <a:ext cx="9525" cy="133350"/>
          </a:xfrm>
          <a:prstGeom prst="rect">
            <a:avLst/>
          </a:prstGeom>
          <a:solidFill>
            <a:srgbClr val="E8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12479000" y="4803577"/>
            <a:ext cx="464109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STEP_03</a:t>
            </a:r>
            <a:endParaRPr b="0" i="0" sz="1800" u="none" cap="none" strike="noStrike">
              <a:solidFill>
                <a:schemeClr val="dk1"/>
              </a:solidFill>
              <a:latin typeface="Calibri"/>
              <a:ea typeface="Calibri"/>
              <a:cs typeface="Calibri"/>
              <a:sym typeface="Calibri"/>
            </a:endParaRPr>
          </a:p>
        </p:txBody>
      </p:sp>
      <p:sp>
        <p:nvSpPr>
          <p:cNvPr id="130" name="Google Shape;130;p4"/>
          <p:cNvSpPr/>
          <p:nvPr/>
        </p:nvSpPr>
        <p:spPr>
          <a:xfrm>
            <a:off x="12479000" y="5218867"/>
            <a:ext cx="4641098" cy="4533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700"/>
              <a:buFont typeface="Inter"/>
              <a:buNone/>
            </a:pPr>
            <a:r>
              <a:rPr b="1" i="0" lang="en-US" sz="2700" u="none" cap="none" strike="noStrike">
                <a:solidFill>
                  <a:srgbClr val="E8EAED"/>
                </a:solidFill>
                <a:latin typeface="Inter"/>
                <a:ea typeface="Inter"/>
                <a:cs typeface="Inter"/>
                <a:sym typeface="Inter"/>
              </a:rPr>
              <a:t>Measure the gap</a:t>
            </a:r>
            <a:endParaRPr b="0" i="0" sz="2700" u="none" cap="none" strike="noStrike">
              <a:solidFill>
                <a:schemeClr val="dk1"/>
              </a:solidFill>
              <a:latin typeface="Calibri"/>
              <a:ea typeface="Calibri"/>
              <a:cs typeface="Calibri"/>
              <a:sym typeface="Calibri"/>
            </a:endParaRPr>
          </a:p>
        </p:txBody>
      </p:sp>
      <p:sp>
        <p:nvSpPr>
          <p:cNvPr id="131" name="Google Shape;131;p4"/>
          <p:cNvSpPr/>
          <p:nvPr/>
        </p:nvSpPr>
        <p:spPr>
          <a:xfrm>
            <a:off x="12479000" y="5805607"/>
            <a:ext cx="4641098" cy="12382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rgbClr val="B8BCC4"/>
                </a:solidFill>
                <a:latin typeface="Inter"/>
                <a:ea typeface="Inter"/>
                <a:cs typeface="Inter"/>
                <a:sym typeface="Inter"/>
              </a:rPr>
              <a:t>Attack success, leakage, false positives, benign utility both pipelines, side by side.</a:t>
            </a:r>
            <a:endParaRPr b="0" i="0" sz="2100" u="none" cap="none" strike="noStrike">
              <a:solidFill>
                <a:schemeClr val="dk1"/>
              </a:solidFill>
              <a:latin typeface="Calibri"/>
              <a:ea typeface="Calibri"/>
              <a:cs typeface="Calibri"/>
              <a:sym typeface="Calibri"/>
            </a:endParaRPr>
          </a:p>
        </p:txBody>
      </p:sp>
      <p:sp>
        <p:nvSpPr>
          <p:cNvPr id="132" name="Google Shape;132;p4"/>
          <p:cNvSpPr/>
          <p:nvPr/>
        </p:nvSpPr>
        <p:spPr>
          <a:xfrm>
            <a:off x="952500" y="8365927"/>
            <a:ext cx="1638300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15064680" y="9452610"/>
            <a:ext cx="2270820"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phase </a:t>
            </a:r>
            <a:r>
              <a:rPr b="0" i="0" lang="en-US" sz="1800" u="none" cap="none" strike="noStrike">
                <a:solidFill>
                  <a:srgbClr val="7A808A"/>
                </a:solidFill>
                <a:latin typeface="JetBrains Mono"/>
                <a:ea typeface="JetBrains Mono"/>
                <a:cs typeface="JetBrains Mono"/>
                <a:sym typeface="JetBrains Mono"/>
              </a:rPr>
              <a:t>· </a:t>
            </a:r>
            <a:r>
              <a:rPr b="0" i="0" lang="en-US" sz="1800" u="none" cap="none" strike="noStrike">
                <a:solidFill>
                  <a:srgbClr val="E8EAED"/>
                </a:solidFill>
                <a:latin typeface="JetBrains Mono"/>
                <a:ea typeface="JetBrains Mono"/>
                <a:cs typeface="JetBrains Mono"/>
                <a:sym typeface="JetBrains Mono"/>
              </a:rPr>
              <a:t>scoping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138" name="Shape 138"/>
        <p:cNvGrpSpPr/>
        <p:nvPr/>
      </p:nvGrpSpPr>
      <p:grpSpPr>
        <a:xfrm>
          <a:off x="0" y="0"/>
          <a:ext cx="0" cy="0"/>
          <a:chOff x="0" y="0"/>
          <a:chExt cx="0" cy="0"/>
        </a:xfrm>
      </p:grpSpPr>
      <p:sp>
        <p:nvSpPr>
          <p:cNvPr id="139" name="Google Shape;139;p5"/>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05 / 11</a:t>
            </a:r>
            <a:endParaRPr b="0" i="0" sz="1800" u="none" cap="none" strike="noStrike">
              <a:solidFill>
                <a:schemeClr val="dk1"/>
              </a:solidFill>
              <a:latin typeface="Calibri"/>
              <a:ea typeface="Calibri"/>
              <a:cs typeface="Calibri"/>
              <a:sym typeface="Calibri"/>
            </a:endParaRPr>
          </a:p>
        </p:txBody>
      </p:sp>
      <p:sp>
        <p:nvSpPr>
          <p:cNvPr id="140" name="Google Shape;140;p5"/>
          <p:cNvSpPr/>
          <p:nvPr/>
        </p:nvSpPr>
        <p:spPr>
          <a:xfrm>
            <a:off x="15503605" y="533400"/>
            <a:ext cx="1831896"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THREAT MODEL</a:t>
            </a:r>
            <a:endParaRPr b="0" i="0" sz="1800" u="none" cap="none" strike="noStrike">
              <a:solidFill>
                <a:schemeClr val="dk1"/>
              </a:solidFill>
              <a:latin typeface="Calibri"/>
              <a:ea typeface="Calibri"/>
              <a:cs typeface="Calibri"/>
              <a:sym typeface="Calibri"/>
            </a:endParaRPr>
          </a:p>
        </p:txBody>
      </p:sp>
      <p:sp>
        <p:nvSpPr>
          <p:cNvPr id="141" name="Google Shape;141;p5"/>
          <p:cNvSpPr/>
          <p:nvPr/>
        </p:nvSpPr>
        <p:spPr>
          <a:xfrm>
            <a:off x="952500" y="1333500"/>
            <a:ext cx="16874490" cy="1702237"/>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E8EAED"/>
              </a:buClr>
              <a:buSzPts val="6300"/>
              <a:buFont typeface="Inter"/>
              <a:buNone/>
            </a:pPr>
            <a:r>
              <a:rPr b="1" i="0" lang="en-US" sz="6300" u="none" cap="none" strike="noStrike">
                <a:solidFill>
                  <a:srgbClr val="E8EAED"/>
                </a:solidFill>
                <a:latin typeface="Inter"/>
                <a:ea typeface="Inter"/>
                <a:cs typeface="Inter"/>
                <a:sym typeface="Inter"/>
              </a:rPr>
              <a:t>Whose data, which surface, what they want.</a:t>
            </a:r>
            <a:endParaRPr b="0" i="0" sz="6300" u="none" cap="none" strike="noStrike">
              <a:solidFill>
                <a:schemeClr val="dk1"/>
              </a:solidFill>
              <a:latin typeface="Calibri"/>
              <a:ea typeface="Calibri"/>
              <a:cs typeface="Calibri"/>
              <a:sym typeface="Calibri"/>
            </a:endParaRPr>
          </a:p>
        </p:txBody>
      </p:sp>
      <p:sp>
        <p:nvSpPr>
          <p:cNvPr id="142" name="Google Shape;142;p5"/>
          <p:cNvSpPr/>
          <p:nvPr/>
        </p:nvSpPr>
        <p:spPr>
          <a:xfrm>
            <a:off x="952500" y="3531037"/>
            <a:ext cx="4732215"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ACTORS</a:t>
            </a:r>
            <a:endParaRPr b="0" i="0" sz="1800" u="none" cap="none" strike="noStrike">
              <a:solidFill>
                <a:schemeClr val="dk1"/>
              </a:solidFill>
              <a:latin typeface="Calibri"/>
              <a:ea typeface="Calibri"/>
              <a:cs typeface="Calibri"/>
              <a:sym typeface="Calibri"/>
            </a:endParaRPr>
          </a:p>
        </p:txBody>
      </p:sp>
      <p:sp>
        <p:nvSpPr>
          <p:cNvPr id="143" name="Google Shape;143;p5"/>
          <p:cNvSpPr/>
          <p:nvPr/>
        </p:nvSpPr>
        <p:spPr>
          <a:xfrm>
            <a:off x="952500" y="4674037"/>
            <a:ext cx="4594384"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952500" y="4136827"/>
            <a:ext cx="4732215"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A1</a:t>
            </a:r>
            <a:r>
              <a:rPr b="0" i="0" lang="en-US" sz="2100" u="none" cap="none" strike="noStrike">
                <a:solidFill>
                  <a:srgbClr val="B8BCC4"/>
                </a:solidFill>
                <a:latin typeface="Inter"/>
                <a:ea typeface="Inter"/>
                <a:cs typeface="Inter"/>
                <a:sym typeface="Inter"/>
              </a:rPr>
              <a:t>External sender</a:t>
            </a:r>
            <a:endParaRPr b="0" i="0" sz="2100" u="none" cap="none" strike="noStrike">
              <a:solidFill>
                <a:schemeClr val="dk1"/>
              </a:solidFill>
              <a:latin typeface="Calibri"/>
              <a:ea typeface="Calibri"/>
              <a:cs typeface="Calibri"/>
              <a:sym typeface="Calibri"/>
            </a:endParaRPr>
          </a:p>
        </p:txBody>
      </p:sp>
      <p:sp>
        <p:nvSpPr>
          <p:cNvPr id="145" name="Google Shape;145;p5"/>
          <p:cNvSpPr/>
          <p:nvPr/>
        </p:nvSpPr>
        <p:spPr>
          <a:xfrm>
            <a:off x="952500" y="5352217"/>
            <a:ext cx="4594384"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952500" y="4815007"/>
            <a:ext cx="4732215"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A2</a:t>
            </a:r>
            <a:r>
              <a:rPr b="0" i="0" lang="en-US" sz="2100" u="none" cap="none" strike="noStrike">
                <a:solidFill>
                  <a:srgbClr val="B8BCC4"/>
                </a:solidFill>
                <a:latin typeface="Inter"/>
                <a:ea typeface="Inter"/>
                <a:cs typeface="Inter"/>
                <a:sym typeface="Inter"/>
              </a:rPr>
              <a:t>Third-party vendor doc</a:t>
            </a:r>
            <a:endParaRPr b="0" i="0" sz="2100" u="none" cap="none" strike="noStrike">
              <a:solidFill>
                <a:schemeClr val="dk1"/>
              </a:solidFill>
              <a:latin typeface="Calibri"/>
              <a:ea typeface="Calibri"/>
              <a:cs typeface="Calibri"/>
              <a:sym typeface="Calibri"/>
            </a:endParaRPr>
          </a:p>
        </p:txBody>
      </p:sp>
      <p:sp>
        <p:nvSpPr>
          <p:cNvPr id="147" name="Google Shape;147;p5"/>
          <p:cNvSpPr/>
          <p:nvPr/>
        </p:nvSpPr>
        <p:spPr>
          <a:xfrm>
            <a:off x="952500" y="6030397"/>
            <a:ext cx="4594384"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952500" y="5493187"/>
            <a:ext cx="4732215"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A3</a:t>
            </a:r>
            <a:r>
              <a:rPr b="0" i="0" lang="en-US" sz="2100" u="none" cap="none" strike="noStrike">
                <a:solidFill>
                  <a:srgbClr val="B8BCC4"/>
                </a:solidFill>
                <a:latin typeface="Inter"/>
                <a:ea typeface="Inter"/>
                <a:cs typeface="Inter"/>
                <a:sym typeface="Inter"/>
              </a:rPr>
              <a:t>Unverified internal doc</a:t>
            </a:r>
            <a:endParaRPr b="0" i="0" sz="2100" u="none" cap="none" strike="noStrike">
              <a:solidFill>
                <a:schemeClr val="dk1"/>
              </a:solidFill>
              <a:latin typeface="Calibri"/>
              <a:ea typeface="Calibri"/>
              <a:cs typeface="Calibri"/>
              <a:sym typeface="Calibri"/>
            </a:endParaRPr>
          </a:p>
        </p:txBody>
      </p:sp>
      <p:sp>
        <p:nvSpPr>
          <p:cNvPr id="149" name="Google Shape;149;p5"/>
          <p:cNvSpPr/>
          <p:nvPr/>
        </p:nvSpPr>
        <p:spPr>
          <a:xfrm>
            <a:off x="5927884" y="3531037"/>
            <a:ext cx="4732215"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SURFACES</a:t>
            </a:r>
            <a:endParaRPr b="0" i="0" sz="1800" u="none" cap="none" strike="noStrike">
              <a:solidFill>
                <a:schemeClr val="dk1"/>
              </a:solidFill>
              <a:latin typeface="Calibri"/>
              <a:ea typeface="Calibri"/>
              <a:cs typeface="Calibri"/>
              <a:sym typeface="Calibri"/>
            </a:endParaRPr>
          </a:p>
        </p:txBody>
      </p:sp>
      <p:sp>
        <p:nvSpPr>
          <p:cNvPr id="150" name="Google Shape;150;p5"/>
          <p:cNvSpPr/>
          <p:nvPr/>
        </p:nvSpPr>
        <p:spPr>
          <a:xfrm>
            <a:off x="5927884" y="4674037"/>
            <a:ext cx="4594384"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5927884" y="4136827"/>
            <a:ext cx="4732215"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S1</a:t>
            </a:r>
            <a:r>
              <a:rPr b="0" i="0" lang="en-US" sz="2100" u="none" cap="none" strike="noStrike">
                <a:solidFill>
                  <a:srgbClr val="B8BCC4"/>
                </a:solidFill>
                <a:latin typeface="Inter"/>
                <a:ea typeface="Inter"/>
                <a:cs typeface="Inter"/>
                <a:sym typeface="Inter"/>
              </a:rPr>
              <a:t>Retrieved email body</a:t>
            </a:r>
            <a:endParaRPr b="0" i="0" sz="2100" u="none" cap="none" strike="noStrike">
              <a:solidFill>
                <a:schemeClr val="dk1"/>
              </a:solidFill>
              <a:latin typeface="Calibri"/>
              <a:ea typeface="Calibri"/>
              <a:cs typeface="Calibri"/>
              <a:sym typeface="Calibri"/>
            </a:endParaRPr>
          </a:p>
        </p:txBody>
      </p:sp>
      <p:sp>
        <p:nvSpPr>
          <p:cNvPr id="152" name="Google Shape;152;p5"/>
          <p:cNvSpPr/>
          <p:nvPr/>
        </p:nvSpPr>
        <p:spPr>
          <a:xfrm>
            <a:off x="5927884" y="5352217"/>
            <a:ext cx="4594384"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5927884" y="4815007"/>
            <a:ext cx="4732215"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S2</a:t>
            </a:r>
            <a:r>
              <a:rPr b="0" i="0" lang="en-US" sz="2100" u="none" cap="none" strike="noStrike">
                <a:solidFill>
                  <a:srgbClr val="B8BCC4"/>
                </a:solidFill>
                <a:latin typeface="Inter"/>
                <a:ea typeface="Inter"/>
                <a:cs typeface="Inter"/>
                <a:sym typeface="Inter"/>
              </a:rPr>
              <a:t>Retrieved document content</a:t>
            </a:r>
            <a:endParaRPr b="0" i="0" sz="2100" u="none" cap="none" strike="noStrike">
              <a:solidFill>
                <a:schemeClr val="dk1"/>
              </a:solidFill>
              <a:latin typeface="Calibri"/>
              <a:ea typeface="Calibri"/>
              <a:cs typeface="Calibri"/>
              <a:sym typeface="Calibri"/>
            </a:endParaRPr>
          </a:p>
        </p:txBody>
      </p:sp>
      <p:sp>
        <p:nvSpPr>
          <p:cNvPr id="154" name="Google Shape;154;p5"/>
          <p:cNvSpPr/>
          <p:nvPr/>
        </p:nvSpPr>
        <p:spPr>
          <a:xfrm>
            <a:off x="5927884" y="6030397"/>
            <a:ext cx="4594384"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5927884" y="5493187"/>
            <a:ext cx="4732215"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S3</a:t>
            </a:r>
            <a:r>
              <a:rPr b="0" i="0" lang="en-US" sz="2100" u="none" cap="none" strike="noStrike">
                <a:solidFill>
                  <a:srgbClr val="B8BCC4"/>
                </a:solidFill>
                <a:latin typeface="Inter"/>
                <a:ea typeface="Inter"/>
                <a:cs typeface="Inter"/>
                <a:sym typeface="Inter"/>
              </a:rPr>
              <a:t>Mixed user + untrusted prompt</a:t>
            </a:r>
            <a:endParaRPr b="0" i="0" sz="2100" u="none" cap="none" strike="noStrike">
              <a:solidFill>
                <a:schemeClr val="dk1"/>
              </a:solidFill>
              <a:latin typeface="Calibri"/>
              <a:ea typeface="Calibri"/>
              <a:cs typeface="Calibri"/>
              <a:sym typeface="Calibri"/>
            </a:endParaRPr>
          </a:p>
        </p:txBody>
      </p:sp>
      <p:sp>
        <p:nvSpPr>
          <p:cNvPr id="156" name="Google Shape;156;p5"/>
          <p:cNvSpPr/>
          <p:nvPr/>
        </p:nvSpPr>
        <p:spPr>
          <a:xfrm>
            <a:off x="5927884" y="6708577"/>
            <a:ext cx="4594384"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5927884" y="6171367"/>
            <a:ext cx="4732215"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S4</a:t>
            </a:r>
            <a:r>
              <a:rPr b="0" i="0" lang="en-US" sz="2100" u="none" cap="none" strike="noStrike">
                <a:solidFill>
                  <a:srgbClr val="B8BCC4"/>
                </a:solidFill>
                <a:latin typeface="Inter"/>
                <a:ea typeface="Inter"/>
                <a:cs typeface="Inter"/>
                <a:sym typeface="Inter"/>
              </a:rPr>
              <a:t>Tool routing post-output</a:t>
            </a:r>
            <a:endParaRPr b="0" i="0" sz="2100" u="none" cap="none" strike="noStrike">
              <a:solidFill>
                <a:schemeClr val="dk1"/>
              </a:solidFill>
              <a:latin typeface="Calibri"/>
              <a:ea typeface="Calibri"/>
              <a:cs typeface="Calibri"/>
              <a:sym typeface="Calibri"/>
            </a:endParaRPr>
          </a:p>
        </p:txBody>
      </p:sp>
      <p:sp>
        <p:nvSpPr>
          <p:cNvPr id="158" name="Google Shape;158;p5"/>
          <p:cNvSpPr/>
          <p:nvPr/>
        </p:nvSpPr>
        <p:spPr>
          <a:xfrm>
            <a:off x="10903268" y="3531037"/>
            <a:ext cx="662513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RISK MATRIX (EXCERPT)</a:t>
            </a:r>
            <a:endParaRPr b="0" i="0" sz="1800" u="none" cap="none" strike="noStrike">
              <a:solidFill>
                <a:schemeClr val="dk1"/>
              </a:solidFill>
              <a:latin typeface="Calibri"/>
              <a:ea typeface="Calibri"/>
              <a:cs typeface="Calibri"/>
              <a:sym typeface="Calibri"/>
            </a:endParaRPr>
          </a:p>
        </p:txBody>
      </p:sp>
      <p:sp>
        <p:nvSpPr>
          <p:cNvPr id="159" name="Google Shape;159;p5"/>
          <p:cNvSpPr/>
          <p:nvPr/>
        </p:nvSpPr>
        <p:spPr>
          <a:xfrm>
            <a:off x="10903268" y="4719757"/>
            <a:ext cx="3823037" cy="9525"/>
          </a:xfrm>
          <a:prstGeom prst="rect">
            <a:avLst/>
          </a:prstGeom>
          <a:solidFill>
            <a:srgbClr val="2E3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11131868" y="4213027"/>
            <a:ext cx="3480528" cy="33528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THREAT</a:t>
            </a:r>
            <a:endParaRPr b="0" i="0" sz="1800" u="none" cap="none" strike="noStrike">
              <a:solidFill>
                <a:schemeClr val="dk1"/>
              </a:solidFill>
              <a:latin typeface="Calibri"/>
              <a:ea typeface="Calibri"/>
              <a:cs typeface="Calibri"/>
              <a:sym typeface="Calibri"/>
            </a:endParaRPr>
          </a:p>
        </p:txBody>
      </p:sp>
      <p:sp>
        <p:nvSpPr>
          <p:cNvPr id="161" name="Google Shape;161;p5"/>
          <p:cNvSpPr/>
          <p:nvPr/>
        </p:nvSpPr>
        <p:spPr>
          <a:xfrm>
            <a:off x="14726305" y="4719757"/>
            <a:ext cx="1304568" cy="9525"/>
          </a:xfrm>
          <a:prstGeom prst="rect">
            <a:avLst/>
          </a:prstGeom>
          <a:solidFill>
            <a:srgbClr val="2E3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16030873" y="4719757"/>
            <a:ext cx="1304568" cy="9525"/>
          </a:xfrm>
          <a:prstGeom prst="rect">
            <a:avLst/>
          </a:prstGeom>
          <a:solidFill>
            <a:srgbClr val="2E3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10903268" y="5538907"/>
            <a:ext cx="3823037"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11131868" y="4936927"/>
            <a:ext cx="3480528" cy="43053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E8EAED"/>
              </a:buClr>
              <a:buSzPts val="1800"/>
              <a:buFont typeface="Inter"/>
              <a:buNone/>
            </a:pPr>
            <a:r>
              <a:rPr b="0" i="0" lang="en-US" sz="1800" u="none" cap="none" strike="noStrike">
                <a:solidFill>
                  <a:srgbClr val="E8EAED"/>
                </a:solidFill>
                <a:latin typeface="Inter"/>
                <a:ea typeface="Inter"/>
                <a:cs typeface="Inter"/>
                <a:sym typeface="Inter"/>
              </a:rPr>
              <a:t>Instruction override in email</a:t>
            </a:r>
            <a:endParaRPr b="0" i="0" sz="1800" u="none" cap="none" strike="noStrike">
              <a:solidFill>
                <a:schemeClr val="dk1"/>
              </a:solidFill>
              <a:latin typeface="Calibri"/>
              <a:ea typeface="Calibri"/>
              <a:cs typeface="Calibri"/>
              <a:sym typeface="Calibri"/>
            </a:endParaRPr>
          </a:p>
        </p:txBody>
      </p:sp>
      <p:sp>
        <p:nvSpPr>
          <p:cNvPr id="165" name="Google Shape;165;p5"/>
          <p:cNvSpPr/>
          <p:nvPr/>
        </p:nvSpPr>
        <p:spPr>
          <a:xfrm>
            <a:off x="14726305" y="553890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15076825" y="4986457"/>
            <a:ext cx="67972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HIGH</a:t>
            </a:r>
            <a:endParaRPr b="0" i="0" sz="1800" u="none" cap="none" strike="noStrike">
              <a:solidFill>
                <a:schemeClr val="dk1"/>
              </a:solidFill>
              <a:latin typeface="Calibri"/>
              <a:ea typeface="Calibri"/>
              <a:cs typeface="Calibri"/>
              <a:sym typeface="Calibri"/>
            </a:endParaRPr>
          </a:p>
        </p:txBody>
      </p:sp>
      <p:sp>
        <p:nvSpPr>
          <p:cNvPr id="167" name="Google Shape;167;p5"/>
          <p:cNvSpPr/>
          <p:nvPr/>
        </p:nvSpPr>
        <p:spPr>
          <a:xfrm>
            <a:off x="16030873" y="553890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16381393" y="4986457"/>
            <a:ext cx="67972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HIGH</a:t>
            </a:r>
            <a:endParaRPr b="0" i="0" sz="1800" u="none" cap="none" strike="noStrike">
              <a:solidFill>
                <a:schemeClr val="dk1"/>
              </a:solidFill>
              <a:latin typeface="Calibri"/>
              <a:ea typeface="Calibri"/>
              <a:cs typeface="Calibri"/>
              <a:sym typeface="Calibri"/>
            </a:endParaRPr>
          </a:p>
        </p:txBody>
      </p:sp>
      <p:sp>
        <p:nvSpPr>
          <p:cNvPr id="169" name="Google Shape;169;p5"/>
          <p:cNvSpPr/>
          <p:nvPr/>
        </p:nvSpPr>
        <p:spPr>
          <a:xfrm>
            <a:off x="10903268" y="6358057"/>
            <a:ext cx="3823037"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11131868" y="5756077"/>
            <a:ext cx="3480528" cy="43053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E8EAED"/>
              </a:buClr>
              <a:buSzPts val="1800"/>
              <a:buFont typeface="Inter"/>
              <a:buNone/>
            </a:pPr>
            <a:r>
              <a:rPr b="0" i="0" lang="en-US" sz="1800" u="none" cap="none" strike="noStrike">
                <a:solidFill>
                  <a:srgbClr val="E8EAED"/>
                </a:solidFill>
                <a:latin typeface="Inter"/>
                <a:ea typeface="Inter"/>
                <a:cs typeface="Inter"/>
                <a:sym typeface="Inter"/>
              </a:rPr>
              <a:t>Data exfil via document</a:t>
            </a:r>
            <a:endParaRPr b="0" i="0" sz="1800" u="none" cap="none" strike="noStrike">
              <a:solidFill>
                <a:schemeClr val="dk1"/>
              </a:solidFill>
              <a:latin typeface="Calibri"/>
              <a:ea typeface="Calibri"/>
              <a:cs typeface="Calibri"/>
              <a:sym typeface="Calibri"/>
            </a:endParaRPr>
          </a:p>
        </p:txBody>
      </p:sp>
      <p:sp>
        <p:nvSpPr>
          <p:cNvPr id="171" name="Google Shape;171;p5"/>
          <p:cNvSpPr/>
          <p:nvPr/>
        </p:nvSpPr>
        <p:spPr>
          <a:xfrm>
            <a:off x="14726305" y="635805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15076825" y="5805607"/>
            <a:ext cx="528876"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MED</a:t>
            </a:r>
            <a:endParaRPr b="0" i="0" sz="1800" u="none" cap="none" strike="noStrike">
              <a:solidFill>
                <a:schemeClr val="dk1"/>
              </a:solidFill>
              <a:latin typeface="Calibri"/>
              <a:ea typeface="Calibri"/>
              <a:cs typeface="Calibri"/>
              <a:sym typeface="Calibri"/>
            </a:endParaRPr>
          </a:p>
        </p:txBody>
      </p:sp>
      <p:sp>
        <p:nvSpPr>
          <p:cNvPr id="173" name="Google Shape;173;p5"/>
          <p:cNvSpPr/>
          <p:nvPr/>
        </p:nvSpPr>
        <p:spPr>
          <a:xfrm>
            <a:off x="16030873" y="635805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16381393" y="5805607"/>
            <a:ext cx="67972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HIGH</a:t>
            </a:r>
            <a:endParaRPr b="0" i="0" sz="1800" u="none" cap="none" strike="noStrike">
              <a:solidFill>
                <a:schemeClr val="dk1"/>
              </a:solidFill>
              <a:latin typeface="Calibri"/>
              <a:ea typeface="Calibri"/>
              <a:cs typeface="Calibri"/>
              <a:sym typeface="Calibri"/>
            </a:endParaRPr>
          </a:p>
        </p:txBody>
      </p:sp>
      <p:sp>
        <p:nvSpPr>
          <p:cNvPr id="175" name="Google Shape;175;p5"/>
          <p:cNvSpPr/>
          <p:nvPr/>
        </p:nvSpPr>
        <p:spPr>
          <a:xfrm>
            <a:off x="10903268" y="7177207"/>
            <a:ext cx="3823037"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11131868" y="6575227"/>
            <a:ext cx="3480528" cy="43053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E8EAED"/>
              </a:buClr>
              <a:buSzPts val="1800"/>
              <a:buFont typeface="Inter"/>
              <a:buNone/>
            </a:pPr>
            <a:r>
              <a:rPr b="0" i="0" lang="en-US" sz="1800" u="none" cap="none" strike="noStrike">
                <a:solidFill>
                  <a:srgbClr val="E8EAED"/>
                </a:solidFill>
                <a:latin typeface="Inter"/>
                <a:ea typeface="Inter"/>
                <a:cs typeface="Inter"/>
                <a:sym typeface="Inter"/>
              </a:rPr>
              <a:t>Tool misuse request</a:t>
            </a:r>
            <a:endParaRPr b="0" i="0" sz="1800" u="none" cap="none" strike="noStrike">
              <a:solidFill>
                <a:schemeClr val="dk1"/>
              </a:solidFill>
              <a:latin typeface="Calibri"/>
              <a:ea typeface="Calibri"/>
              <a:cs typeface="Calibri"/>
              <a:sym typeface="Calibri"/>
            </a:endParaRPr>
          </a:p>
        </p:txBody>
      </p:sp>
      <p:sp>
        <p:nvSpPr>
          <p:cNvPr id="177" name="Google Shape;177;p5"/>
          <p:cNvSpPr/>
          <p:nvPr/>
        </p:nvSpPr>
        <p:spPr>
          <a:xfrm>
            <a:off x="14726305" y="717720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15076825" y="6624757"/>
            <a:ext cx="528876"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MED</a:t>
            </a:r>
            <a:endParaRPr b="0" i="0" sz="1800" u="none" cap="none" strike="noStrike">
              <a:solidFill>
                <a:schemeClr val="dk1"/>
              </a:solidFill>
              <a:latin typeface="Calibri"/>
              <a:ea typeface="Calibri"/>
              <a:cs typeface="Calibri"/>
              <a:sym typeface="Calibri"/>
            </a:endParaRPr>
          </a:p>
        </p:txBody>
      </p:sp>
      <p:sp>
        <p:nvSpPr>
          <p:cNvPr id="179" name="Google Shape;179;p5"/>
          <p:cNvSpPr/>
          <p:nvPr/>
        </p:nvSpPr>
        <p:spPr>
          <a:xfrm>
            <a:off x="16030873" y="717720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16381393" y="6624757"/>
            <a:ext cx="528876"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MED</a:t>
            </a:r>
            <a:endParaRPr b="0" i="0" sz="1800" u="none" cap="none" strike="noStrike">
              <a:solidFill>
                <a:schemeClr val="dk1"/>
              </a:solidFill>
              <a:latin typeface="Calibri"/>
              <a:ea typeface="Calibri"/>
              <a:cs typeface="Calibri"/>
              <a:sym typeface="Calibri"/>
            </a:endParaRPr>
          </a:p>
        </p:txBody>
      </p:sp>
      <p:sp>
        <p:nvSpPr>
          <p:cNvPr id="181" name="Google Shape;181;p5"/>
          <p:cNvSpPr/>
          <p:nvPr/>
        </p:nvSpPr>
        <p:spPr>
          <a:xfrm>
            <a:off x="10903268" y="7996357"/>
            <a:ext cx="3823037"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11131868" y="7394377"/>
            <a:ext cx="3480528" cy="43053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E8EAED"/>
              </a:buClr>
              <a:buSzPts val="1800"/>
              <a:buFont typeface="Inter"/>
              <a:buNone/>
            </a:pPr>
            <a:r>
              <a:rPr b="0" i="0" lang="en-US" sz="1800" u="none" cap="none" strike="noStrike">
                <a:solidFill>
                  <a:srgbClr val="E8EAED"/>
                </a:solidFill>
                <a:latin typeface="Inter"/>
                <a:ea typeface="Inter"/>
                <a:cs typeface="Inter"/>
                <a:sym typeface="Inter"/>
              </a:rPr>
              <a:t>Summary poisoning</a:t>
            </a:r>
            <a:endParaRPr b="0" i="0" sz="1800" u="none" cap="none" strike="noStrike">
              <a:solidFill>
                <a:schemeClr val="dk1"/>
              </a:solidFill>
              <a:latin typeface="Calibri"/>
              <a:ea typeface="Calibri"/>
              <a:cs typeface="Calibri"/>
              <a:sym typeface="Calibri"/>
            </a:endParaRPr>
          </a:p>
        </p:txBody>
      </p:sp>
      <p:sp>
        <p:nvSpPr>
          <p:cNvPr id="183" name="Google Shape;183;p5"/>
          <p:cNvSpPr/>
          <p:nvPr/>
        </p:nvSpPr>
        <p:spPr>
          <a:xfrm>
            <a:off x="14726305" y="799635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15076825" y="7443907"/>
            <a:ext cx="528876"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MED</a:t>
            </a:r>
            <a:endParaRPr b="0" i="0" sz="1800" u="none" cap="none" strike="noStrike">
              <a:solidFill>
                <a:schemeClr val="dk1"/>
              </a:solidFill>
              <a:latin typeface="Calibri"/>
              <a:ea typeface="Calibri"/>
              <a:cs typeface="Calibri"/>
              <a:sym typeface="Calibri"/>
            </a:endParaRPr>
          </a:p>
        </p:txBody>
      </p:sp>
      <p:sp>
        <p:nvSpPr>
          <p:cNvPr id="185" name="Google Shape;185;p5"/>
          <p:cNvSpPr/>
          <p:nvPr/>
        </p:nvSpPr>
        <p:spPr>
          <a:xfrm>
            <a:off x="16030873" y="799635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16381393" y="7443907"/>
            <a:ext cx="528876"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MED</a:t>
            </a:r>
            <a:endParaRPr b="0" i="0" sz="1800" u="none" cap="none" strike="noStrike">
              <a:solidFill>
                <a:schemeClr val="dk1"/>
              </a:solidFill>
              <a:latin typeface="Calibri"/>
              <a:ea typeface="Calibri"/>
              <a:cs typeface="Calibri"/>
              <a:sym typeface="Calibri"/>
            </a:endParaRPr>
          </a:p>
        </p:txBody>
      </p:sp>
      <p:sp>
        <p:nvSpPr>
          <p:cNvPr id="187" name="Google Shape;187;p5"/>
          <p:cNvSpPr/>
          <p:nvPr/>
        </p:nvSpPr>
        <p:spPr>
          <a:xfrm>
            <a:off x="10903268" y="8971717"/>
            <a:ext cx="3823037"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11131868" y="8213527"/>
            <a:ext cx="3480528" cy="5867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E8EAED"/>
              </a:buClr>
              <a:buSzPts val="1800"/>
              <a:buFont typeface="Inter"/>
              <a:buNone/>
            </a:pPr>
            <a:r>
              <a:rPr b="0" i="0" lang="en-US" sz="1800" u="none" cap="none" strike="noStrike">
                <a:solidFill>
                  <a:srgbClr val="E8EAED"/>
                </a:solidFill>
                <a:latin typeface="Inter"/>
                <a:ea typeface="Inter"/>
                <a:cs typeface="Inter"/>
                <a:sym typeface="Inter"/>
              </a:rPr>
              <a:t>Approval bypass on outbound draft</a:t>
            </a:r>
            <a:endParaRPr b="0" i="0" sz="1800" u="none" cap="none" strike="noStrike">
              <a:solidFill>
                <a:schemeClr val="dk1"/>
              </a:solidFill>
              <a:latin typeface="Calibri"/>
              <a:ea typeface="Calibri"/>
              <a:cs typeface="Calibri"/>
              <a:sym typeface="Calibri"/>
            </a:endParaRPr>
          </a:p>
        </p:txBody>
      </p:sp>
      <p:sp>
        <p:nvSpPr>
          <p:cNvPr id="189" name="Google Shape;189;p5"/>
          <p:cNvSpPr/>
          <p:nvPr/>
        </p:nvSpPr>
        <p:spPr>
          <a:xfrm>
            <a:off x="14726305" y="897171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15076825" y="8341162"/>
            <a:ext cx="528876"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MED</a:t>
            </a:r>
            <a:endParaRPr b="0" i="0" sz="1800" u="none" cap="none" strike="noStrike">
              <a:solidFill>
                <a:schemeClr val="dk1"/>
              </a:solidFill>
              <a:latin typeface="Calibri"/>
              <a:ea typeface="Calibri"/>
              <a:cs typeface="Calibri"/>
              <a:sym typeface="Calibri"/>
            </a:endParaRPr>
          </a:p>
        </p:txBody>
      </p:sp>
      <p:sp>
        <p:nvSpPr>
          <p:cNvPr id="191" name="Google Shape;191;p5"/>
          <p:cNvSpPr/>
          <p:nvPr/>
        </p:nvSpPr>
        <p:spPr>
          <a:xfrm>
            <a:off x="16030873" y="8971717"/>
            <a:ext cx="1304568"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16381393" y="8341162"/>
            <a:ext cx="67972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HIGH</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197" name="Shape 197"/>
        <p:cNvGrpSpPr/>
        <p:nvPr/>
      </p:nvGrpSpPr>
      <p:grpSpPr>
        <a:xfrm>
          <a:off x="0" y="0"/>
          <a:ext cx="0" cy="0"/>
          <a:chOff x="0" y="0"/>
          <a:chExt cx="0" cy="0"/>
        </a:xfrm>
      </p:grpSpPr>
      <p:sp>
        <p:nvSpPr>
          <p:cNvPr id="198" name="Google Shape;198;p6"/>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06 / 11</a:t>
            </a:r>
            <a:endParaRPr b="0" i="0" sz="1800" u="none" cap="none" strike="noStrike">
              <a:solidFill>
                <a:schemeClr val="dk1"/>
              </a:solidFill>
              <a:latin typeface="Calibri"/>
              <a:ea typeface="Calibri"/>
              <a:cs typeface="Calibri"/>
              <a:sym typeface="Calibri"/>
            </a:endParaRPr>
          </a:p>
        </p:txBody>
      </p:sp>
      <p:sp>
        <p:nvSpPr>
          <p:cNvPr id="199" name="Google Shape;199;p6"/>
          <p:cNvSpPr/>
          <p:nvPr/>
        </p:nvSpPr>
        <p:spPr>
          <a:xfrm>
            <a:off x="14170920" y="533400"/>
            <a:ext cx="3164580"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BASELINE ARCHITECTURE</a:t>
            </a:r>
            <a:endParaRPr b="0" i="0" sz="1800" u="none" cap="none" strike="noStrike">
              <a:solidFill>
                <a:schemeClr val="dk1"/>
              </a:solidFill>
              <a:latin typeface="Calibri"/>
              <a:ea typeface="Calibri"/>
              <a:cs typeface="Calibri"/>
              <a:sym typeface="Calibri"/>
            </a:endParaRPr>
          </a:p>
        </p:txBody>
      </p:sp>
      <p:sp>
        <p:nvSpPr>
          <p:cNvPr id="200" name="Google Shape;200;p6"/>
          <p:cNvSpPr/>
          <p:nvPr/>
        </p:nvSpPr>
        <p:spPr>
          <a:xfrm>
            <a:off x="1093470" y="1398270"/>
            <a:ext cx="3427321"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BUILD: WORST-PLAUSIBLE</a:t>
            </a:r>
            <a:endParaRPr b="0" i="0" sz="1800" u="none" cap="none" strike="noStrike">
              <a:solidFill>
                <a:schemeClr val="dk1"/>
              </a:solidFill>
              <a:latin typeface="Calibri"/>
              <a:ea typeface="Calibri"/>
              <a:cs typeface="Calibri"/>
              <a:sym typeface="Calibri"/>
            </a:endParaRPr>
          </a:p>
        </p:txBody>
      </p:sp>
      <p:sp>
        <p:nvSpPr>
          <p:cNvPr id="201" name="Google Shape;201;p6"/>
          <p:cNvSpPr/>
          <p:nvPr/>
        </p:nvSpPr>
        <p:spPr>
          <a:xfrm>
            <a:off x="4725174" y="1501140"/>
            <a:ext cx="95250" cy="95250"/>
          </a:xfrm>
          <a:prstGeom prst="ellipse">
            <a:avLst/>
          </a:prstGeom>
          <a:noFill/>
          <a:ln>
            <a:noFill/>
          </a:ln>
          <a:effectLst>
            <a:outerShdw blurRad="114300" rotWithShape="0" algn="bl" dir="16200000" dist="508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952500" y="2030730"/>
            <a:ext cx="16874490" cy="1702237"/>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E8EAED"/>
              </a:buClr>
              <a:buSzPts val="6300"/>
              <a:buFont typeface="Inter"/>
              <a:buNone/>
            </a:pPr>
            <a:r>
              <a:rPr b="1" i="0" lang="en-US" sz="6300" u="none" cap="none" strike="noStrike">
                <a:solidFill>
                  <a:srgbClr val="E8EAED"/>
                </a:solidFill>
                <a:latin typeface="Inter"/>
                <a:ea typeface="Inter"/>
                <a:cs typeface="Inter"/>
                <a:sym typeface="Inter"/>
              </a:rPr>
              <a:t>Everything in one prompt. That is the whole problem.</a:t>
            </a:r>
            <a:endParaRPr b="0" i="0" sz="6300" u="none" cap="none" strike="noStrike">
              <a:solidFill>
                <a:schemeClr val="dk1"/>
              </a:solidFill>
              <a:latin typeface="Calibri"/>
              <a:ea typeface="Calibri"/>
              <a:cs typeface="Calibri"/>
              <a:sym typeface="Calibri"/>
            </a:endParaRPr>
          </a:p>
        </p:txBody>
      </p:sp>
      <p:sp>
        <p:nvSpPr>
          <p:cNvPr id="203" name="Google Shape;203;p6"/>
          <p:cNvSpPr/>
          <p:nvPr/>
        </p:nvSpPr>
        <p:spPr>
          <a:xfrm>
            <a:off x="952500" y="4304467"/>
            <a:ext cx="2659797" cy="1508760"/>
          </a:xfrm>
          <a:prstGeom prst="rect">
            <a:avLst/>
          </a:prstGeom>
          <a:solidFill>
            <a:srgbClr val="15181D"/>
          </a:solidFill>
          <a:ln cap="flat" cmpd="sng" w="9525">
            <a:solidFill>
              <a:srgbClr val="2E3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1188720" y="4700707"/>
            <a:ext cx="2263557"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USER REQ</a:t>
            </a:r>
            <a:endParaRPr b="0" i="0" sz="1800" u="none" cap="none" strike="noStrike">
              <a:solidFill>
                <a:schemeClr val="dk1"/>
              </a:solidFill>
              <a:latin typeface="Calibri"/>
              <a:ea typeface="Calibri"/>
              <a:cs typeface="Calibri"/>
              <a:sym typeface="Calibri"/>
            </a:endParaRPr>
          </a:p>
        </p:txBody>
      </p:sp>
      <p:sp>
        <p:nvSpPr>
          <p:cNvPr id="205" name="Google Shape;205;p6"/>
          <p:cNvSpPr/>
          <p:nvPr/>
        </p:nvSpPr>
        <p:spPr>
          <a:xfrm>
            <a:off x="1188720" y="5096946"/>
            <a:ext cx="2263557"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Free-text intent</a:t>
            </a:r>
            <a:endParaRPr b="0" i="0" sz="1800" u="none" cap="none" strike="noStrike">
              <a:solidFill>
                <a:schemeClr val="dk1"/>
              </a:solidFill>
              <a:latin typeface="Calibri"/>
              <a:ea typeface="Calibri"/>
              <a:cs typeface="Calibri"/>
              <a:sym typeface="Calibri"/>
            </a:endParaRPr>
          </a:p>
        </p:txBody>
      </p:sp>
      <p:sp>
        <p:nvSpPr>
          <p:cNvPr id="206" name="Google Shape;206;p6"/>
          <p:cNvSpPr/>
          <p:nvPr/>
        </p:nvSpPr>
        <p:spPr>
          <a:xfrm>
            <a:off x="3574197" y="4304467"/>
            <a:ext cx="647700" cy="154686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4F545D"/>
              </a:buClr>
              <a:buSzPts val="1950"/>
              <a:buFont typeface="JetBrains Mono"/>
              <a:buNone/>
            </a:pPr>
            <a:r>
              <a:rPr b="0" i="0" lang="en-US" sz="1950" u="none" cap="none" strike="noStrike">
                <a:solidFill>
                  <a:srgbClr val="4F545D"/>
                </a:solidFill>
                <a:latin typeface="JetBrains Mono"/>
                <a:ea typeface="JetBrains Mono"/>
                <a:cs typeface="JetBrains Mono"/>
                <a:sym typeface="JetBrains Mono"/>
              </a:rPr>
              <a:t>──▶</a:t>
            </a:r>
            <a:endParaRPr b="0" i="0" sz="1950" u="none" cap="none" strike="noStrike">
              <a:solidFill>
                <a:schemeClr val="dk1"/>
              </a:solidFill>
              <a:latin typeface="Calibri"/>
              <a:ea typeface="Calibri"/>
              <a:cs typeface="Calibri"/>
              <a:sym typeface="Calibri"/>
            </a:endParaRPr>
          </a:p>
        </p:txBody>
      </p:sp>
      <p:sp>
        <p:nvSpPr>
          <p:cNvPr id="207" name="Google Shape;207;p6"/>
          <p:cNvSpPr/>
          <p:nvPr/>
        </p:nvSpPr>
        <p:spPr>
          <a:xfrm>
            <a:off x="4183797" y="4304467"/>
            <a:ext cx="2659797" cy="1508760"/>
          </a:xfrm>
          <a:prstGeom prst="rect">
            <a:avLst/>
          </a:prstGeom>
          <a:solidFill>
            <a:srgbClr val="15181D"/>
          </a:solidFill>
          <a:ln cap="flat" cmpd="sng" w="9525">
            <a:solidFill>
              <a:srgbClr val="2E3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4420017" y="4700707"/>
            <a:ext cx="2263557"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RETRIEVAL</a:t>
            </a:r>
            <a:endParaRPr b="0" i="0" sz="1800" u="none" cap="none" strike="noStrike">
              <a:solidFill>
                <a:schemeClr val="dk1"/>
              </a:solidFill>
              <a:latin typeface="Calibri"/>
              <a:ea typeface="Calibri"/>
              <a:cs typeface="Calibri"/>
              <a:sym typeface="Calibri"/>
            </a:endParaRPr>
          </a:p>
        </p:txBody>
      </p:sp>
      <p:sp>
        <p:nvSpPr>
          <p:cNvPr id="209" name="Google Shape;209;p6"/>
          <p:cNvSpPr/>
          <p:nvPr/>
        </p:nvSpPr>
        <p:spPr>
          <a:xfrm>
            <a:off x="4420017" y="5096946"/>
            <a:ext cx="2263557"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Inbox + docs</a:t>
            </a:r>
            <a:endParaRPr b="0" i="0" sz="1800" u="none" cap="none" strike="noStrike">
              <a:solidFill>
                <a:schemeClr val="dk1"/>
              </a:solidFill>
              <a:latin typeface="Calibri"/>
              <a:ea typeface="Calibri"/>
              <a:cs typeface="Calibri"/>
              <a:sym typeface="Calibri"/>
            </a:endParaRPr>
          </a:p>
        </p:txBody>
      </p:sp>
      <p:sp>
        <p:nvSpPr>
          <p:cNvPr id="210" name="Google Shape;210;p6"/>
          <p:cNvSpPr/>
          <p:nvPr/>
        </p:nvSpPr>
        <p:spPr>
          <a:xfrm>
            <a:off x="6805493" y="4304467"/>
            <a:ext cx="647700" cy="154686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4F545D"/>
              </a:buClr>
              <a:buSzPts val="1950"/>
              <a:buFont typeface="JetBrains Mono"/>
              <a:buNone/>
            </a:pPr>
            <a:r>
              <a:rPr b="0" i="0" lang="en-US" sz="1950" u="none" cap="none" strike="noStrike">
                <a:solidFill>
                  <a:srgbClr val="4F545D"/>
                </a:solidFill>
                <a:latin typeface="JetBrains Mono"/>
                <a:ea typeface="JetBrains Mono"/>
                <a:cs typeface="JetBrains Mono"/>
                <a:sym typeface="JetBrains Mono"/>
              </a:rPr>
              <a:t>──▶</a:t>
            </a:r>
            <a:endParaRPr b="0" i="0" sz="1950" u="none" cap="none" strike="noStrike">
              <a:solidFill>
                <a:schemeClr val="dk1"/>
              </a:solidFill>
              <a:latin typeface="Calibri"/>
              <a:ea typeface="Calibri"/>
              <a:cs typeface="Calibri"/>
              <a:sym typeface="Calibri"/>
            </a:endParaRPr>
          </a:p>
        </p:txBody>
      </p:sp>
      <p:sp>
        <p:nvSpPr>
          <p:cNvPr id="211" name="Google Shape;211;p6"/>
          <p:cNvSpPr/>
          <p:nvPr/>
        </p:nvSpPr>
        <p:spPr>
          <a:xfrm>
            <a:off x="7415093" y="4304467"/>
            <a:ext cx="3457754" cy="1508760"/>
          </a:xfrm>
          <a:prstGeom prst="rect">
            <a:avLst/>
          </a:prstGeom>
          <a:solidFill>
            <a:srgbClr val="DC5050">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7651314" y="4540687"/>
            <a:ext cx="3074873"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MERGED PROMPT</a:t>
            </a:r>
            <a:endParaRPr b="0" i="0" sz="1800" u="none" cap="none" strike="noStrike">
              <a:solidFill>
                <a:schemeClr val="dk1"/>
              </a:solidFill>
              <a:latin typeface="Calibri"/>
              <a:ea typeface="Calibri"/>
              <a:cs typeface="Calibri"/>
              <a:sym typeface="Calibri"/>
            </a:endParaRPr>
          </a:p>
        </p:txBody>
      </p:sp>
      <p:sp>
        <p:nvSpPr>
          <p:cNvPr id="213" name="Google Shape;213;p6"/>
          <p:cNvSpPr/>
          <p:nvPr/>
        </p:nvSpPr>
        <p:spPr>
          <a:xfrm>
            <a:off x="7651314" y="4936927"/>
            <a:ext cx="3074873" cy="6781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No labels. No separation. No trust tags.</a:t>
            </a:r>
            <a:endParaRPr b="0" i="0" sz="1800" u="none" cap="none" strike="noStrike">
              <a:solidFill>
                <a:schemeClr val="dk1"/>
              </a:solidFill>
              <a:latin typeface="Calibri"/>
              <a:ea typeface="Calibri"/>
              <a:cs typeface="Calibri"/>
              <a:sym typeface="Calibri"/>
            </a:endParaRPr>
          </a:p>
        </p:txBody>
      </p:sp>
      <p:sp>
        <p:nvSpPr>
          <p:cNvPr id="214" name="Google Shape;214;p6"/>
          <p:cNvSpPr/>
          <p:nvPr/>
        </p:nvSpPr>
        <p:spPr>
          <a:xfrm>
            <a:off x="10834747" y="4304467"/>
            <a:ext cx="647700" cy="154686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4F545D"/>
              </a:buClr>
              <a:buSzPts val="1950"/>
              <a:buFont typeface="JetBrains Mono"/>
              <a:buNone/>
            </a:pPr>
            <a:r>
              <a:rPr b="0" i="0" lang="en-US" sz="1950" u="none" cap="none" strike="noStrike">
                <a:solidFill>
                  <a:srgbClr val="4F545D"/>
                </a:solidFill>
                <a:latin typeface="JetBrains Mono"/>
                <a:ea typeface="JetBrains Mono"/>
                <a:cs typeface="JetBrains Mono"/>
                <a:sym typeface="JetBrains Mono"/>
              </a:rPr>
              <a:t>──▶</a:t>
            </a:r>
            <a:endParaRPr b="0" i="0" sz="1950" u="none" cap="none" strike="noStrike">
              <a:solidFill>
                <a:schemeClr val="dk1"/>
              </a:solidFill>
              <a:latin typeface="Calibri"/>
              <a:ea typeface="Calibri"/>
              <a:cs typeface="Calibri"/>
              <a:sym typeface="Calibri"/>
            </a:endParaRPr>
          </a:p>
        </p:txBody>
      </p:sp>
      <p:sp>
        <p:nvSpPr>
          <p:cNvPr id="215" name="Google Shape;215;p6"/>
          <p:cNvSpPr/>
          <p:nvPr/>
        </p:nvSpPr>
        <p:spPr>
          <a:xfrm>
            <a:off x="11444347" y="4304467"/>
            <a:ext cx="2659797" cy="1508760"/>
          </a:xfrm>
          <a:prstGeom prst="rect">
            <a:avLst/>
          </a:prstGeom>
          <a:solidFill>
            <a:srgbClr val="15181D"/>
          </a:solidFill>
          <a:ln cap="flat" cmpd="sng" w="9525">
            <a:solidFill>
              <a:srgbClr val="2E3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a:off x="11680567" y="4700707"/>
            <a:ext cx="2263557"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MODEL</a:t>
            </a:r>
            <a:endParaRPr b="0" i="0" sz="1800" u="none" cap="none" strike="noStrike">
              <a:solidFill>
                <a:schemeClr val="dk1"/>
              </a:solidFill>
              <a:latin typeface="Calibri"/>
              <a:ea typeface="Calibri"/>
              <a:cs typeface="Calibri"/>
              <a:sym typeface="Calibri"/>
            </a:endParaRPr>
          </a:p>
        </p:txBody>
      </p:sp>
      <p:sp>
        <p:nvSpPr>
          <p:cNvPr id="217" name="Google Shape;217;p6"/>
          <p:cNvSpPr/>
          <p:nvPr/>
        </p:nvSpPr>
        <p:spPr>
          <a:xfrm>
            <a:off x="11680567" y="5096946"/>
            <a:ext cx="2263557"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Generates reply</a:t>
            </a:r>
            <a:endParaRPr b="0" i="0" sz="1800" u="none" cap="none" strike="noStrike">
              <a:solidFill>
                <a:schemeClr val="dk1"/>
              </a:solidFill>
              <a:latin typeface="Calibri"/>
              <a:ea typeface="Calibri"/>
              <a:cs typeface="Calibri"/>
              <a:sym typeface="Calibri"/>
            </a:endParaRPr>
          </a:p>
        </p:txBody>
      </p:sp>
      <p:sp>
        <p:nvSpPr>
          <p:cNvPr id="218" name="Google Shape;218;p6"/>
          <p:cNvSpPr/>
          <p:nvPr/>
        </p:nvSpPr>
        <p:spPr>
          <a:xfrm>
            <a:off x="14066044" y="4304467"/>
            <a:ext cx="647700" cy="154686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4F545D"/>
              </a:buClr>
              <a:buSzPts val="1950"/>
              <a:buFont typeface="JetBrains Mono"/>
              <a:buNone/>
            </a:pPr>
            <a:r>
              <a:rPr b="0" i="0" lang="en-US" sz="1950" u="none" cap="none" strike="noStrike">
                <a:solidFill>
                  <a:srgbClr val="4F545D"/>
                </a:solidFill>
                <a:latin typeface="JetBrains Mono"/>
                <a:ea typeface="JetBrains Mono"/>
                <a:cs typeface="JetBrains Mono"/>
                <a:sym typeface="JetBrains Mono"/>
              </a:rPr>
              <a:t>──▶</a:t>
            </a:r>
            <a:endParaRPr b="0" i="0" sz="1950" u="none" cap="none" strike="noStrike">
              <a:solidFill>
                <a:schemeClr val="dk1"/>
              </a:solidFill>
              <a:latin typeface="Calibri"/>
              <a:ea typeface="Calibri"/>
              <a:cs typeface="Calibri"/>
              <a:sym typeface="Calibri"/>
            </a:endParaRPr>
          </a:p>
        </p:txBody>
      </p:sp>
      <p:sp>
        <p:nvSpPr>
          <p:cNvPr id="219" name="Google Shape;219;p6"/>
          <p:cNvSpPr/>
          <p:nvPr/>
        </p:nvSpPr>
        <p:spPr>
          <a:xfrm>
            <a:off x="14675644" y="4304467"/>
            <a:ext cx="2659797" cy="1508760"/>
          </a:xfrm>
          <a:prstGeom prst="rect">
            <a:avLst/>
          </a:prstGeom>
          <a:solidFill>
            <a:srgbClr val="15181D"/>
          </a:solidFill>
          <a:ln cap="flat" cmpd="sng" w="9525">
            <a:solidFill>
              <a:srgbClr val="2E3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6"/>
          <p:cNvSpPr/>
          <p:nvPr/>
        </p:nvSpPr>
        <p:spPr>
          <a:xfrm>
            <a:off x="14911864" y="4700707"/>
            <a:ext cx="2263557"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TOOL ACTION</a:t>
            </a:r>
            <a:endParaRPr b="0" i="0" sz="1800" u="none" cap="none" strike="noStrike">
              <a:solidFill>
                <a:schemeClr val="dk1"/>
              </a:solidFill>
              <a:latin typeface="Calibri"/>
              <a:ea typeface="Calibri"/>
              <a:cs typeface="Calibri"/>
              <a:sym typeface="Calibri"/>
            </a:endParaRPr>
          </a:p>
        </p:txBody>
      </p:sp>
      <p:sp>
        <p:nvSpPr>
          <p:cNvPr id="221" name="Google Shape;221;p6"/>
          <p:cNvSpPr/>
          <p:nvPr/>
        </p:nvSpPr>
        <p:spPr>
          <a:xfrm>
            <a:off x="14911864" y="5096946"/>
            <a:ext cx="2263557"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1800"/>
              <a:buFont typeface="Inter"/>
              <a:buNone/>
            </a:pPr>
            <a:r>
              <a:rPr b="0" i="0" lang="en-US" sz="1800" u="none" cap="none" strike="noStrike">
                <a:solidFill>
                  <a:srgbClr val="B8BCC4"/>
                </a:solidFill>
                <a:latin typeface="Inter"/>
                <a:ea typeface="Inter"/>
                <a:cs typeface="Inter"/>
                <a:sym typeface="Inter"/>
              </a:rPr>
              <a:t>Broad permissions</a:t>
            </a:r>
            <a:endParaRPr b="0" i="0" sz="1800" u="none" cap="none" strike="noStrike">
              <a:solidFill>
                <a:schemeClr val="dk1"/>
              </a:solidFill>
              <a:latin typeface="Calibri"/>
              <a:ea typeface="Calibri"/>
              <a:cs typeface="Calibri"/>
              <a:sym typeface="Calibri"/>
            </a:endParaRPr>
          </a:p>
        </p:txBody>
      </p:sp>
      <p:sp>
        <p:nvSpPr>
          <p:cNvPr id="222" name="Google Shape;222;p6"/>
          <p:cNvSpPr/>
          <p:nvPr/>
        </p:nvSpPr>
        <p:spPr>
          <a:xfrm>
            <a:off x="952500" y="5813227"/>
            <a:ext cx="1638300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952500" y="6354246"/>
            <a:ext cx="8142923"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 WHY IT'S WEAK</a:t>
            </a:r>
            <a:endParaRPr b="0" i="0" sz="1800" u="none" cap="none" strike="noStrike">
              <a:solidFill>
                <a:schemeClr val="dk1"/>
              </a:solidFill>
              <a:latin typeface="Calibri"/>
              <a:ea typeface="Calibri"/>
              <a:cs typeface="Calibri"/>
              <a:sym typeface="Calibri"/>
            </a:endParaRPr>
          </a:p>
        </p:txBody>
      </p:sp>
      <p:sp>
        <p:nvSpPr>
          <p:cNvPr id="224" name="Google Shape;224;p6"/>
          <p:cNvSpPr/>
          <p:nvPr/>
        </p:nvSpPr>
        <p:spPr>
          <a:xfrm>
            <a:off x="952500" y="6902887"/>
            <a:ext cx="8142923"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a:t>
            </a:r>
            <a:r>
              <a:rPr b="0" i="0" lang="en-US" sz="2100" u="none" cap="none" strike="noStrike">
                <a:solidFill>
                  <a:srgbClr val="B8BCC4"/>
                </a:solidFill>
                <a:latin typeface="Inter"/>
                <a:ea typeface="Inter"/>
                <a:cs typeface="Inter"/>
                <a:sym typeface="Inter"/>
              </a:rPr>
              <a:t>Instructions and retrieved data share one slot</a:t>
            </a:r>
            <a:endParaRPr b="0" i="0" sz="2100" u="none" cap="none" strike="noStrike">
              <a:solidFill>
                <a:schemeClr val="dk1"/>
              </a:solidFill>
              <a:latin typeface="Calibri"/>
              <a:ea typeface="Calibri"/>
              <a:cs typeface="Calibri"/>
              <a:sym typeface="Calibri"/>
            </a:endParaRPr>
          </a:p>
        </p:txBody>
      </p:sp>
      <p:sp>
        <p:nvSpPr>
          <p:cNvPr id="225" name="Google Shape;225;p6"/>
          <p:cNvSpPr/>
          <p:nvPr/>
        </p:nvSpPr>
        <p:spPr>
          <a:xfrm>
            <a:off x="952500" y="7459146"/>
            <a:ext cx="8142923"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a:t>
            </a:r>
            <a:r>
              <a:rPr b="0" i="0" lang="en-US" sz="2100" u="none" cap="none" strike="noStrike">
                <a:solidFill>
                  <a:srgbClr val="B8BCC4"/>
                </a:solidFill>
                <a:latin typeface="Inter"/>
                <a:ea typeface="Inter"/>
                <a:cs typeface="Inter"/>
                <a:sym typeface="Inter"/>
              </a:rPr>
              <a:t>No output validation, no hijack detection</a:t>
            </a:r>
            <a:endParaRPr b="0" i="0" sz="2100" u="none" cap="none" strike="noStrike">
              <a:solidFill>
                <a:schemeClr val="dk1"/>
              </a:solidFill>
              <a:latin typeface="Calibri"/>
              <a:ea typeface="Calibri"/>
              <a:cs typeface="Calibri"/>
              <a:sym typeface="Calibri"/>
            </a:endParaRPr>
          </a:p>
        </p:txBody>
      </p:sp>
      <p:sp>
        <p:nvSpPr>
          <p:cNvPr id="226" name="Google Shape;226;p6"/>
          <p:cNvSpPr/>
          <p:nvPr/>
        </p:nvSpPr>
        <p:spPr>
          <a:xfrm>
            <a:off x="952500" y="8015407"/>
            <a:ext cx="8142923"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a:t>
            </a:r>
            <a:r>
              <a:rPr b="0" i="0" lang="en-US" sz="2100" u="none" cap="none" strike="noStrike">
                <a:solidFill>
                  <a:srgbClr val="B8BCC4"/>
                </a:solidFill>
                <a:latin typeface="Inter"/>
                <a:ea typeface="Inter"/>
                <a:cs typeface="Inter"/>
                <a:sym typeface="Inter"/>
              </a:rPr>
              <a:t>Broad tool permissions inside the sandbox</a:t>
            </a:r>
            <a:endParaRPr b="0" i="0" sz="2100" u="none" cap="none" strike="noStrike">
              <a:solidFill>
                <a:schemeClr val="dk1"/>
              </a:solidFill>
              <a:latin typeface="Calibri"/>
              <a:ea typeface="Calibri"/>
              <a:cs typeface="Calibri"/>
              <a:sym typeface="Calibri"/>
            </a:endParaRPr>
          </a:p>
        </p:txBody>
      </p:sp>
      <p:sp>
        <p:nvSpPr>
          <p:cNvPr id="227" name="Google Shape;227;p6"/>
          <p:cNvSpPr/>
          <p:nvPr/>
        </p:nvSpPr>
        <p:spPr>
          <a:xfrm>
            <a:off x="952500" y="8571667"/>
            <a:ext cx="8142923"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F545D"/>
              </a:buClr>
              <a:buSzPts val="2100"/>
              <a:buFont typeface="JetBrains Mono"/>
              <a:buNone/>
            </a:pPr>
            <a:r>
              <a:rPr b="0" i="0" lang="en-US" sz="2100" u="none" cap="none" strike="noStrike">
                <a:solidFill>
                  <a:srgbClr val="4F545D"/>
                </a:solidFill>
                <a:latin typeface="JetBrains Mono"/>
                <a:ea typeface="JetBrains Mono"/>
                <a:cs typeface="JetBrains Mono"/>
                <a:sym typeface="JetBrains Mono"/>
              </a:rPr>
              <a:t>×</a:t>
            </a:r>
            <a:r>
              <a:rPr b="0" i="0" lang="en-US" sz="2100" u="none" cap="none" strike="noStrike">
                <a:solidFill>
                  <a:srgbClr val="B8BCC4"/>
                </a:solidFill>
                <a:latin typeface="Inter"/>
                <a:ea typeface="Inter"/>
                <a:cs typeface="Inter"/>
                <a:sym typeface="Inter"/>
              </a:rPr>
              <a:t>Trust level of retrieved data ignored</a:t>
            </a:r>
            <a:endParaRPr b="0" i="0" sz="2100" u="none" cap="none" strike="noStrike">
              <a:solidFill>
                <a:schemeClr val="dk1"/>
              </a:solidFill>
              <a:latin typeface="Calibri"/>
              <a:ea typeface="Calibri"/>
              <a:cs typeface="Calibri"/>
              <a:sym typeface="Calibri"/>
            </a:endParaRPr>
          </a:p>
        </p:txBody>
      </p:sp>
      <p:sp>
        <p:nvSpPr>
          <p:cNvPr id="228" name="Google Shape;228;p6"/>
          <p:cNvSpPr/>
          <p:nvPr/>
        </p:nvSpPr>
        <p:spPr>
          <a:xfrm>
            <a:off x="9429750" y="6354246"/>
            <a:ext cx="8142923"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EXPECTED BEHAVIOUR</a:t>
            </a:r>
            <a:endParaRPr b="0" i="0" sz="1800" u="none" cap="none" strike="noStrike">
              <a:solidFill>
                <a:schemeClr val="dk1"/>
              </a:solidFill>
              <a:latin typeface="Calibri"/>
              <a:ea typeface="Calibri"/>
              <a:cs typeface="Calibri"/>
              <a:sym typeface="Calibri"/>
            </a:endParaRPr>
          </a:p>
        </p:txBody>
      </p:sp>
      <p:sp>
        <p:nvSpPr>
          <p:cNvPr id="229" name="Google Shape;229;p6"/>
          <p:cNvSpPr/>
          <p:nvPr/>
        </p:nvSpPr>
        <p:spPr>
          <a:xfrm>
            <a:off x="9429750" y="6902887"/>
            <a:ext cx="8142923"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8EAED"/>
              </a:buClr>
              <a:buSzPts val="2100"/>
              <a:buFont typeface="JetBrains Mono"/>
              <a:buNone/>
            </a:pPr>
            <a:r>
              <a:rPr b="0" i="0" lang="en-US" sz="2100" u="none" cap="none" strike="noStrike">
                <a:solidFill>
                  <a:srgbClr val="E8EAED"/>
                </a:solidFill>
                <a:latin typeface="JetBrains Mono"/>
                <a:ea typeface="JetBrains Mono"/>
                <a:cs typeface="JetBrains Mono"/>
                <a:sym typeface="JetBrains Mono"/>
              </a:rPr>
              <a:t>✓</a:t>
            </a:r>
            <a:r>
              <a:rPr b="0" i="0" lang="en-US" sz="2100" u="none" cap="none" strike="noStrike">
                <a:solidFill>
                  <a:srgbClr val="B8BCC4"/>
                </a:solidFill>
                <a:latin typeface="Inter"/>
                <a:ea typeface="Inter"/>
                <a:cs typeface="Inter"/>
                <a:sym typeface="Inter"/>
              </a:rPr>
              <a:t>Handles benign tasks correctly</a:t>
            </a:r>
            <a:endParaRPr b="0" i="0" sz="2100" u="none" cap="none" strike="noStrike">
              <a:solidFill>
                <a:schemeClr val="dk1"/>
              </a:solidFill>
              <a:latin typeface="Calibri"/>
              <a:ea typeface="Calibri"/>
              <a:cs typeface="Calibri"/>
              <a:sym typeface="Calibri"/>
            </a:endParaRPr>
          </a:p>
        </p:txBody>
      </p:sp>
      <p:sp>
        <p:nvSpPr>
          <p:cNvPr id="230" name="Google Shape;230;p6"/>
          <p:cNvSpPr/>
          <p:nvPr/>
        </p:nvSpPr>
        <p:spPr>
          <a:xfrm>
            <a:off x="9429750" y="7459146"/>
            <a:ext cx="8142923"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00000"/>
              </a:buClr>
              <a:buSzPts val="2100"/>
              <a:buFont typeface="JetBrains Mono"/>
              <a:buNone/>
            </a:pPr>
            <a:r>
              <a:rPr b="0" i="0" lang="en-US" sz="2100" u="none" cap="none" strike="noStrike">
                <a:solidFill>
                  <a:srgbClr val="000000"/>
                </a:solidFill>
                <a:latin typeface="JetBrains Mono"/>
                <a:ea typeface="JetBrains Mono"/>
                <a:cs typeface="JetBrains Mono"/>
                <a:sym typeface="JetBrains Mono"/>
              </a:rPr>
              <a:t>!</a:t>
            </a:r>
            <a:r>
              <a:rPr b="0" i="0" lang="en-US" sz="2100" u="none" cap="none" strike="noStrike">
                <a:solidFill>
                  <a:srgbClr val="B8BCC4"/>
                </a:solidFill>
                <a:latin typeface="Inter"/>
                <a:ea typeface="Inter"/>
                <a:cs typeface="Inter"/>
                <a:sym typeface="Inter"/>
              </a:rPr>
              <a:t>Fails believably on malicious scenarios</a:t>
            </a:r>
            <a:endParaRPr b="0" i="0" sz="2100" u="none" cap="none" strike="noStrike">
              <a:solidFill>
                <a:schemeClr val="dk1"/>
              </a:solidFill>
              <a:latin typeface="Calibri"/>
              <a:ea typeface="Calibri"/>
              <a:cs typeface="Calibri"/>
              <a:sym typeface="Calibri"/>
            </a:endParaRPr>
          </a:p>
        </p:txBody>
      </p:sp>
      <p:sp>
        <p:nvSpPr>
          <p:cNvPr id="231" name="Google Shape;231;p6"/>
          <p:cNvSpPr/>
          <p:nvPr/>
        </p:nvSpPr>
        <p:spPr>
          <a:xfrm>
            <a:off x="9429750" y="8015407"/>
            <a:ext cx="8142923" cy="44196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8EAED"/>
              </a:buClr>
              <a:buSzPts val="2100"/>
              <a:buFont typeface="JetBrains Mono"/>
              <a:buNone/>
            </a:pPr>
            <a:r>
              <a:rPr b="0" i="0" lang="en-US" sz="2100" u="none" cap="none" strike="noStrike">
                <a:solidFill>
                  <a:srgbClr val="E8EAED"/>
                </a:solidFill>
                <a:latin typeface="JetBrains Mono"/>
                <a:ea typeface="JetBrains Mono"/>
                <a:cs typeface="JetBrains Mono"/>
                <a:sym typeface="JetBrains Mono"/>
              </a:rPr>
              <a:t>✓</a:t>
            </a:r>
            <a:r>
              <a:rPr b="0" i="0" lang="en-US" sz="2100" u="none" cap="none" strike="noStrike">
                <a:solidFill>
                  <a:srgbClr val="B8BCC4"/>
                </a:solidFill>
                <a:latin typeface="Inter"/>
                <a:ea typeface="Inter"/>
                <a:cs typeface="Inter"/>
                <a:sym typeface="Inter"/>
              </a:rPr>
              <a:t>Credible before-state to compare against</a:t>
            </a:r>
            <a:endParaRPr b="0" i="0" sz="2100" u="none" cap="none" strike="noStrike">
              <a:solidFill>
                <a:schemeClr val="dk1"/>
              </a:solidFill>
              <a:latin typeface="Calibri"/>
              <a:ea typeface="Calibri"/>
              <a:cs typeface="Calibri"/>
              <a:sym typeface="Calibri"/>
            </a:endParaRPr>
          </a:p>
        </p:txBody>
      </p:sp>
      <p:sp>
        <p:nvSpPr>
          <p:cNvPr id="232" name="Google Shape;232;p6"/>
          <p:cNvSpPr/>
          <p:nvPr/>
        </p:nvSpPr>
        <p:spPr>
          <a:xfrm>
            <a:off x="14918413" y="9452610"/>
            <a:ext cx="2417088"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controls </a:t>
            </a:r>
            <a:r>
              <a:rPr b="0" i="0" lang="en-US" sz="1800" u="none" cap="none" strike="noStrike">
                <a:solidFill>
                  <a:srgbClr val="7A808A"/>
                </a:solidFill>
                <a:latin typeface="JetBrains Mono"/>
                <a:ea typeface="JetBrains Mono"/>
                <a:cs typeface="JetBrains Mono"/>
                <a:sym typeface="JetBrains Mono"/>
              </a:rPr>
              <a:t>· </a:t>
            </a:r>
            <a:r>
              <a:rPr b="0" i="0" lang="en-US" sz="1800" u="none" cap="none" strike="noStrike">
                <a:solidFill>
                  <a:srgbClr val="000000"/>
                </a:solidFill>
                <a:latin typeface="JetBrains Mono"/>
                <a:ea typeface="JetBrains Mono"/>
                <a:cs typeface="JetBrains Mono"/>
                <a:sym typeface="JetBrains Mono"/>
              </a:rPr>
              <a:t>0 / 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237" name="Shape 237"/>
        <p:cNvGrpSpPr/>
        <p:nvPr/>
      </p:nvGrpSpPr>
      <p:grpSpPr>
        <a:xfrm>
          <a:off x="0" y="0"/>
          <a:ext cx="0" cy="0"/>
          <a:chOff x="0" y="0"/>
          <a:chExt cx="0" cy="0"/>
        </a:xfrm>
      </p:grpSpPr>
      <p:sp>
        <p:nvSpPr>
          <p:cNvPr id="238" name="Google Shape;238;p7"/>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07 / 11</a:t>
            </a:r>
            <a:endParaRPr b="0" i="0" sz="1800" u="none" cap="none" strike="noStrike">
              <a:solidFill>
                <a:schemeClr val="dk1"/>
              </a:solidFill>
              <a:latin typeface="Calibri"/>
              <a:ea typeface="Calibri"/>
              <a:cs typeface="Calibri"/>
              <a:sym typeface="Calibri"/>
            </a:endParaRPr>
          </a:p>
        </p:txBody>
      </p:sp>
      <p:sp>
        <p:nvSpPr>
          <p:cNvPr id="239" name="Google Shape;239;p7"/>
          <p:cNvSpPr/>
          <p:nvPr/>
        </p:nvSpPr>
        <p:spPr>
          <a:xfrm>
            <a:off x="14170920" y="533400"/>
            <a:ext cx="3164580"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DEFENDED ARCHITECTURE</a:t>
            </a:r>
            <a:endParaRPr b="0" i="0" sz="1800" u="none" cap="none" strike="noStrike">
              <a:solidFill>
                <a:schemeClr val="dk1"/>
              </a:solidFill>
              <a:latin typeface="Calibri"/>
              <a:ea typeface="Calibri"/>
              <a:cs typeface="Calibri"/>
              <a:sym typeface="Calibri"/>
            </a:endParaRPr>
          </a:p>
        </p:txBody>
      </p:sp>
      <p:sp>
        <p:nvSpPr>
          <p:cNvPr id="240" name="Google Shape;240;p7"/>
          <p:cNvSpPr/>
          <p:nvPr/>
        </p:nvSpPr>
        <p:spPr>
          <a:xfrm>
            <a:off x="952500" y="1333500"/>
            <a:ext cx="3752136" cy="430530"/>
          </a:xfrm>
          <a:prstGeom prst="roundRect">
            <a:avLst>
              <a:gd fmla="val 4425" name="adj"/>
            </a:avLst>
          </a:prstGeom>
          <a:noFill/>
          <a:ln cap="flat" cmpd="sng" w="9525">
            <a:solidFill>
              <a:srgbClr val="5B6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1093470" y="1398270"/>
            <a:ext cx="358276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BUILD: DEFENSE-IN-DEPTH</a:t>
            </a:r>
            <a:endParaRPr b="0" i="0" sz="1800" u="none" cap="none" strike="noStrike">
              <a:solidFill>
                <a:schemeClr val="dk1"/>
              </a:solidFill>
              <a:latin typeface="Calibri"/>
              <a:ea typeface="Calibri"/>
              <a:cs typeface="Calibri"/>
              <a:sym typeface="Calibri"/>
            </a:endParaRPr>
          </a:p>
        </p:txBody>
      </p:sp>
      <p:sp>
        <p:nvSpPr>
          <p:cNvPr id="242" name="Google Shape;242;p7"/>
          <p:cNvSpPr/>
          <p:nvPr/>
        </p:nvSpPr>
        <p:spPr>
          <a:xfrm>
            <a:off x="4876086" y="1501140"/>
            <a:ext cx="95250" cy="95250"/>
          </a:xfrm>
          <a:prstGeom prst="ellipse">
            <a:avLst/>
          </a:prstGeom>
          <a:solidFill>
            <a:srgbClr val="E8EAED"/>
          </a:solidFill>
          <a:ln>
            <a:noFill/>
          </a:ln>
          <a:effectLst>
            <a:outerShdw blurRad="114300" rotWithShape="0" algn="bl" dir="16200000" dist="50800">
              <a:srgbClr val="E8EAED"/>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5085636" y="1398270"/>
            <a:ext cx="158496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controls=5</a:t>
            </a:r>
            <a:endParaRPr b="0" i="0" sz="1800" u="none" cap="none" strike="noStrike">
              <a:solidFill>
                <a:schemeClr val="dk1"/>
              </a:solidFill>
              <a:latin typeface="Calibri"/>
              <a:ea typeface="Calibri"/>
              <a:cs typeface="Calibri"/>
              <a:sym typeface="Calibri"/>
            </a:endParaRPr>
          </a:p>
        </p:txBody>
      </p:sp>
      <p:sp>
        <p:nvSpPr>
          <p:cNvPr id="244" name="Google Shape;244;p7"/>
          <p:cNvSpPr/>
          <p:nvPr/>
        </p:nvSpPr>
        <p:spPr>
          <a:xfrm>
            <a:off x="952500" y="1992630"/>
            <a:ext cx="16874490" cy="1464469"/>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E8EAED"/>
              </a:buClr>
              <a:buSzPts val="5400"/>
              <a:buFont typeface="Inter"/>
              <a:buNone/>
            </a:pPr>
            <a:r>
              <a:rPr b="1" i="0" lang="en-US" sz="5400" u="none" cap="none" strike="noStrike">
                <a:solidFill>
                  <a:srgbClr val="E8EAED"/>
                </a:solidFill>
                <a:latin typeface="Inter"/>
                <a:ea typeface="Inter"/>
                <a:cs typeface="Inter"/>
                <a:sym typeface="Inter"/>
              </a:rPr>
              <a:t>Five layers. Each closes a different path.</a:t>
            </a:r>
            <a:endParaRPr b="0" i="0" sz="5400" u="none" cap="none" strike="noStrike">
              <a:solidFill>
                <a:schemeClr val="dk1"/>
              </a:solidFill>
              <a:latin typeface="Calibri"/>
              <a:ea typeface="Calibri"/>
              <a:cs typeface="Calibri"/>
              <a:sym typeface="Calibri"/>
            </a:endParaRPr>
          </a:p>
        </p:txBody>
      </p:sp>
      <p:sp>
        <p:nvSpPr>
          <p:cNvPr id="245" name="Google Shape;245;p7"/>
          <p:cNvSpPr/>
          <p:nvPr/>
        </p:nvSpPr>
        <p:spPr>
          <a:xfrm>
            <a:off x="952500" y="3723799"/>
            <a:ext cx="16383000" cy="918210"/>
          </a:xfrm>
          <a:prstGeom prst="rect">
            <a:avLst/>
          </a:prstGeom>
          <a:solidFill>
            <a:srgbClr val="78FFB4">
              <a:alpha val="3921"/>
            </a:srgbClr>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1226820" y="3980974"/>
            <a:ext cx="838200" cy="4419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400"/>
              <a:buFont typeface="JetBrains Mono"/>
              <a:buNone/>
            </a:pPr>
            <a:r>
              <a:rPr b="0" i="0" lang="en-US" sz="2400" u="none" cap="none" strike="noStrike">
                <a:solidFill>
                  <a:srgbClr val="E8EAED"/>
                </a:solidFill>
                <a:latin typeface="JetBrains Mono"/>
                <a:ea typeface="JetBrains Mono"/>
                <a:cs typeface="JetBrains Mono"/>
                <a:sym typeface="JetBrains Mono"/>
              </a:rPr>
              <a:t>01</a:t>
            </a:r>
            <a:endParaRPr b="0" i="0" sz="2400" u="none" cap="none" strike="noStrike">
              <a:solidFill>
                <a:schemeClr val="dk1"/>
              </a:solidFill>
              <a:latin typeface="Calibri"/>
              <a:ea typeface="Calibri"/>
              <a:cs typeface="Calibri"/>
              <a:sym typeface="Calibri"/>
            </a:endParaRPr>
          </a:p>
        </p:txBody>
      </p:sp>
      <p:sp>
        <p:nvSpPr>
          <p:cNvPr id="247" name="Google Shape;247;p7"/>
          <p:cNvSpPr/>
          <p:nvPr/>
        </p:nvSpPr>
        <p:spPr>
          <a:xfrm>
            <a:off x="2217420" y="3864769"/>
            <a:ext cx="12934493"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100"/>
              <a:buFont typeface="Inter"/>
              <a:buNone/>
            </a:pPr>
            <a:r>
              <a:rPr b="0" i="0" lang="en-US" sz="2100" u="none" cap="none" strike="noStrike">
                <a:solidFill>
                  <a:srgbClr val="E8EAED"/>
                </a:solidFill>
                <a:latin typeface="Inter"/>
                <a:ea typeface="Inter"/>
                <a:cs typeface="Inter"/>
                <a:sym typeface="Inter"/>
              </a:rPr>
              <a:t>Source labeling</a:t>
            </a:r>
            <a:endParaRPr b="0" i="0" sz="2100" u="none" cap="none" strike="noStrike">
              <a:solidFill>
                <a:schemeClr val="dk1"/>
              </a:solidFill>
              <a:latin typeface="Calibri"/>
              <a:ea typeface="Calibri"/>
              <a:cs typeface="Calibri"/>
              <a:sym typeface="Calibri"/>
            </a:endParaRPr>
          </a:p>
        </p:txBody>
      </p:sp>
      <p:sp>
        <p:nvSpPr>
          <p:cNvPr id="248" name="Google Shape;248;p7"/>
          <p:cNvSpPr/>
          <p:nvPr/>
        </p:nvSpPr>
        <p:spPr>
          <a:xfrm>
            <a:off x="2217420" y="4226719"/>
            <a:ext cx="12934493"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Inter"/>
              <a:buNone/>
            </a:pPr>
            <a:r>
              <a:rPr b="0" i="0" lang="en-US" sz="1800" u="none" cap="none" strike="noStrike">
                <a:solidFill>
                  <a:srgbClr val="7A808A"/>
                </a:solidFill>
                <a:latin typeface="Inter"/>
                <a:ea typeface="Inter"/>
                <a:cs typeface="Inter"/>
                <a:sym typeface="Inter"/>
              </a:rPr>
              <a:t>Trusted / untrusted / unknown tags travel with every retrieved item.</a:t>
            </a:r>
            <a:endParaRPr b="0" i="0" sz="1800" u="none" cap="none" strike="noStrike">
              <a:solidFill>
                <a:schemeClr val="dk1"/>
              </a:solidFill>
              <a:latin typeface="Calibri"/>
              <a:ea typeface="Calibri"/>
              <a:cs typeface="Calibri"/>
              <a:sym typeface="Calibri"/>
            </a:endParaRPr>
          </a:p>
        </p:txBody>
      </p:sp>
      <p:sp>
        <p:nvSpPr>
          <p:cNvPr id="249" name="Google Shape;249;p7"/>
          <p:cNvSpPr/>
          <p:nvPr/>
        </p:nvSpPr>
        <p:spPr>
          <a:xfrm>
            <a:off x="15003781" y="4032409"/>
            <a:ext cx="21336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retrieval.py</a:t>
            </a:r>
            <a:endParaRPr b="0" i="0" sz="1800" u="none" cap="none" strike="noStrike">
              <a:solidFill>
                <a:schemeClr val="dk1"/>
              </a:solidFill>
              <a:latin typeface="Calibri"/>
              <a:ea typeface="Calibri"/>
              <a:cs typeface="Calibri"/>
              <a:sym typeface="Calibri"/>
            </a:endParaRPr>
          </a:p>
        </p:txBody>
      </p:sp>
      <p:sp>
        <p:nvSpPr>
          <p:cNvPr id="250" name="Google Shape;250;p7"/>
          <p:cNvSpPr/>
          <p:nvPr/>
        </p:nvSpPr>
        <p:spPr>
          <a:xfrm>
            <a:off x="952500" y="4756309"/>
            <a:ext cx="16383000" cy="918210"/>
          </a:xfrm>
          <a:prstGeom prst="rect">
            <a:avLst/>
          </a:prstGeom>
          <a:solidFill>
            <a:srgbClr val="78FFB4">
              <a:alpha val="3921"/>
            </a:srgbClr>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1226820" y="5013484"/>
            <a:ext cx="838200" cy="4419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400"/>
              <a:buFont typeface="JetBrains Mono"/>
              <a:buNone/>
            </a:pPr>
            <a:r>
              <a:rPr b="0" i="0" lang="en-US" sz="2400" u="none" cap="none" strike="noStrike">
                <a:solidFill>
                  <a:srgbClr val="E8EAED"/>
                </a:solidFill>
                <a:latin typeface="JetBrains Mono"/>
                <a:ea typeface="JetBrains Mono"/>
                <a:cs typeface="JetBrains Mono"/>
                <a:sym typeface="JetBrains Mono"/>
              </a:rPr>
              <a:t>02</a:t>
            </a:r>
            <a:endParaRPr b="0" i="0" sz="2400" u="none" cap="none" strike="noStrike">
              <a:solidFill>
                <a:schemeClr val="dk1"/>
              </a:solidFill>
              <a:latin typeface="Calibri"/>
              <a:ea typeface="Calibri"/>
              <a:cs typeface="Calibri"/>
              <a:sym typeface="Calibri"/>
            </a:endParaRPr>
          </a:p>
        </p:txBody>
      </p:sp>
      <p:sp>
        <p:nvSpPr>
          <p:cNvPr id="252" name="Google Shape;252;p7"/>
          <p:cNvSpPr/>
          <p:nvPr/>
        </p:nvSpPr>
        <p:spPr>
          <a:xfrm>
            <a:off x="2217420" y="4897279"/>
            <a:ext cx="13075768"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100"/>
              <a:buFont typeface="Inter"/>
              <a:buNone/>
            </a:pPr>
            <a:r>
              <a:rPr b="0" i="0" lang="en-US" sz="2100" u="none" cap="none" strike="noStrike">
                <a:solidFill>
                  <a:srgbClr val="E8EAED"/>
                </a:solidFill>
                <a:latin typeface="Inter"/>
                <a:ea typeface="Inter"/>
                <a:cs typeface="Inter"/>
                <a:sym typeface="Inter"/>
              </a:rPr>
              <a:t>Prompt separation</a:t>
            </a:r>
            <a:endParaRPr b="0" i="0" sz="2100" u="none" cap="none" strike="noStrike">
              <a:solidFill>
                <a:schemeClr val="dk1"/>
              </a:solidFill>
              <a:latin typeface="Calibri"/>
              <a:ea typeface="Calibri"/>
              <a:cs typeface="Calibri"/>
              <a:sym typeface="Calibri"/>
            </a:endParaRPr>
          </a:p>
        </p:txBody>
      </p:sp>
      <p:sp>
        <p:nvSpPr>
          <p:cNvPr id="253" name="Google Shape;253;p7"/>
          <p:cNvSpPr/>
          <p:nvPr/>
        </p:nvSpPr>
        <p:spPr>
          <a:xfrm>
            <a:off x="2217420" y="5259229"/>
            <a:ext cx="13075768"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Inter"/>
              <a:buNone/>
            </a:pPr>
            <a:r>
              <a:rPr b="0" i="0" lang="en-US" sz="1800" u="none" cap="none" strike="noStrike">
                <a:solidFill>
                  <a:srgbClr val="7A808A"/>
                </a:solidFill>
                <a:latin typeface="Inter"/>
                <a:ea typeface="Inter"/>
                <a:cs typeface="Inter"/>
                <a:sym typeface="Inter"/>
              </a:rPr>
              <a:t>System rules, user intent, and retrieved data live in distinct slots.</a:t>
            </a:r>
            <a:endParaRPr b="0" i="0" sz="1800" u="none" cap="none" strike="noStrike">
              <a:solidFill>
                <a:schemeClr val="dk1"/>
              </a:solidFill>
              <a:latin typeface="Calibri"/>
              <a:ea typeface="Calibri"/>
              <a:cs typeface="Calibri"/>
              <a:sym typeface="Calibri"/>
            </a:endParaRPr>
          </a:p>
        </p:txBody>
      </p:sp>
      <p:sp>
        <p:nvSpPr>
          <p:cNvPr id="254" name="Google Shape;254;p7"/>
          <p:cNvSpPr/>
          <p:nvPr/>
        </p:nvSpPr>
        <p:spPr>
          <a:xfrm>
            <a:off x="15140940" y="5064919"/>
            <a:ext cx="199644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defended.py</a:t>
            </a:r>
            <a:endParaRPr b="0" i="0" sz="1800" u="none" cap="none" strike="noStrike">
              <a:solidFill>
                <a:schemeClr val="dk1"/>
              </a:solidFill>
              <a:latin typeface="Calibri"/>
              <a:ea typeface="Calibri"/>
              <a:cs typeface="Calibri"/>
              <a:sym typeface="Calibri"/>
            </a:endParaRPr>
          </a:p>
        </p:txBody>
      </p:sp>
      <p:sp>
        <p:nvSpPr>
          <p:cNvPr id="255" name="Google Shape;255;p7"/>
          <p:cNvSpPr/>
          <p:nvPr/>
        </p:nvSpPr>
        <p:spPr>
          <a:xfrm>
            <a:off x="952500" y="5788819"/>
            <a:ext cx="16383000" cy="918210"/>
          </a:xfrm>
          <a:prstGeom prst="rect">
            <a:avLst/>
          </a:prstGeom>
          <a:solidFill>
            <a:srgbClr val="78FFB4">
              <a:alpha val="3921"/>
            </a:srgbClr>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1226820" y="6045994"/>
            <a:ext cx="838200" cy="4419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400"/>
              <a:buFont typeface="JetBrains Mono"/>
              <a:buNone/>
            </a:pPr>
            <a:r>
              <a:rPr b="0" i="0" lang="en-US" sz="2400" u="none" cap="none" strike="noStrike">
                <a:solidFill>
                  <a:srgbClr val="E8EAED"/>
                </a:solidFill>
                <a:latin typeface="JetBrains Mono"/>
                <a:ea typeface="JetBrains Mono"/>
                <a:cs typeface="JetBrains Mono"/>
                <a:sym typeface="JetBrains Mono"/>
              </a:rPr>
              <a:t>03</a:t>
            </a:r>
            <a:endParaRPr b="0" i="0" sz="2400" u="none" cap="none" strike="noStrike">
              <a:solidFill>
                <a:schemeClr val="dk1"/>
              </a:solidFill>
              <a:latin typeface="Calibri"/>
              <a:ea typeface="Calibri"/>
              <a:cs typeface="Calibri"/>
              <a:sym typeface="Calibri"/>
            </a:endParaRPr>
          </a:p>
        </p:txBody>
      </p:sp>
      <p:sp>
        <p:nvSpPr>
          <p:cNvPr id="257" name="Google Shape;257;p7"/>
          <p:cNvSpPr/>
          <p:nvPr/>
        </p:nvSpPr>
        <p:spPr>
          <a:xfrm>
            <a:off x="2217420" y="5929789"/>
            <a:ext cx="13358317"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100"/>
              <a:buFont typeface="Inter"/>
              <a:buNone/>
            </a:pPr>
            <a:r>
              <a:rPr b="0" i="0" lang="en-US" sz="2100" u="none" cap="none" strike="noStrike">
                <a:solidFill>
                  <a:srgbClr val="E8EAED"/>
                </a:solidFill>
                <a:latin typeface="Inter"/>
                <a:ea typeface="Inter"/>
                <a:cs typeface="Inter"/>
                <a:sym typeface="Inter"/>
              </a:rPr>
              <a:t>Tool allowlist</a:t>
            </a:r>
            <a:endParaRPr b="0" i="0" sz="2100" u="none" cap="none" strike="noStrike">
              <a:solidFill>
                <a:schemeClr val="dk1"/>
              </a:solidFill>
              <a:latin typeface="Calibri"/>
              <a:ea typeface="Calibri"/>
              <a:cs typeface="Calibri"/>
              <a:sym typeface="Calibri"/>
            </a:endParaRPr>
          </a:p>
        </p:txBody>
      </p:sp>
      <p:sp>
        <p:nvSpPr>
          <p:cNvPr id="258" name="Google Shape;258;p7"/>
          <p:cNvSpPr/>
          <p:nvPr/>
        </p:nvSpPr>
        <p:spPr>
          <a:xfrm>
            <a:off x="2217420" y="6291739"/>
            <a:ext cx="13358317"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Inter"/>
              <a:buNone/>
            </a:pPr>
            <a:r>
              <a:rPr b="0" i="0" lang="en-US" sz="1800" u="none" cap="none" strike="noStrike">
                <a:solidFill>
                  <a:srgbClr val="7A808A"/>
                </a:solidFill>
                <a:latin typeface="Inter"/>
                <a:ea typeface="Inter"/>
                <a:cs typeface="Inter"/>
                <a:sym typeface="Inter"/>
              </a:rPr>
              <a:t>Only summarize, draft, flag</a:t>
            </a:r>
            <a:r>
              <a:rPr lang="en-US" sz="1800">
                <a:solidFill>
                  <a:srgbClr val="7A808A"/>
                </a:solidFill>
                <a:latin typeface="Inter"/>
                <a:ea typeface="Inter"/>
                <a:cs typeface="Inter"/>
                <a:sym typeface="Inter"/>
              </a:rPr>
              <a:t>, </a:t>
            </a:r>
            <a:r>
              <a:rPr b="0" i="0" lang="en-US" sz="1800" u="none" cap="none" strike="noStrike">
                <a:solidFill>
                  <a:srgbClr val="7A808A"/>
                </a:solidFill>
                <a:latin typeface="Inter"/>
                <a:ea typeface="Inter"/>
                <a:cs typeface="Inter"/>
                <a:sym typeface="Inter"/>
              </a:rPr>
              <a:t> anything else is refused upstream.</a:t>
            </a:r>
            <a:endParaRPr b="0" i="0" sz="1800" u="none" cap="none" strike="noStrike">
              <a:solidFill>
                <a:schemeClr val="dk1"/>
              </a:solidFill>
              <a:latin typeface="Calibri"/>
              <a:ea typeface="Calibri"/>
              <a:cs typeface="Calibri"/>
              <a:sym typeface="Calibri"/>
            </a:endParaRPr>
          </a:p>
        </p:txBody>
      </p:sp>
      <p:sp>
        <p:nvSpPr>
          <p:cNvPr id="259" name="Google Shape;259;p7"/>
          <p:cNvSpPr/>
          <p:nvPr/>
        </p:nvSpPr>
        <p:spPr>
          <a:xfrm>
            <a:off x="15415260" y="6097429"/>
            <a:ext cx="172212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policy.py</a:t>
            </a:r>
            <a:endParaRPr b="0" i="0" sz="1800" u="none" cap="none" strike="noStrike">
              <a:solidFill>
                <a:schemeClr val="dk1"/>
              </a:solidFill>
              <a:latin typeface="Calibri"/>
              <a:ea typeface="Calibri"/>
              <a:cs typeface="Calibri"/>
              <a:sym typeface="Calibri"/>
            </a:endParaRPr>
          </a:p>
        </p:txBody>
      </p:sp>
      <p:sp>
        <p:nvSpPr>
          <p:cNvPr id="260" name="Google Shape;260;p7"/>
          <p:cNvSpPr/>
          <p:nvPr/>
        </p:nvSpPr>
        <p:spPr>
          <a:xfrm>
            <a:off x="952500" y="6821329"/>
            <a:ext cx="16383000" cy="918210"/>
          </a:xfrm>
          <a:prstGeom prst="rect">
            <a:avLst/>
          </a:prstGeom>
          <a:solidFill>
            <a:srgbClr val="78FFB4">
              <a:alpha val="3921"/>
            </a:srgbClr>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1226820" y="7078504"/>
            <a:ext cx="838200" cy="4419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400"/>
              <a:buFont typeface="JetBrains Mono"/>
              <a:buNone/>
            </a:pPr>
            <a:r>
              <a:rPr b="0" i="0" lang="en-US" sz="2400" u="none" cap="none" strike="noStrike">
                <a:solidFill>
                  <a:srgbClr val="E8EAED"/>
                </a:solidFill>
                <a:latin typeface="JetBrains Mono"/>
                <a:ea typeface="JetBrains Mono"/>
                <a:cs typeface="JetBrains Mono"/>
                <a:sym typeface="JetBrains Mono"/>
              </a:rPr>
              <a:t>04</a:t>
            </a:r>
            <a:endParaRPr b="0" i="0" sz="2400" u="none" cap="none" strike="noStrike">
              <a:solidFill>
                <a:schemeClr val="dk1"/>
              </a:solidFill>
              <a:latin typeface="Calibri"/>
              <a:ea typeface="Calibri"/>
              <a:cs typeface="Calibri"/>
              <a:sym typeface="Calibri"/>
            </a:endParaRPr>
          </a:p>
        </p:txBody>
      </p:sp>
      <p:sp>
        <p:nvSpPr>
          <p:cNvPr id="262" name="Google Shape;262;p7"/>
          <p:cNvSpPr/>
          <p:nvPr/>
        </p:nvSpPr>
        <p:spPr>
          <a:xfrm>
            <a:off x="2217420" y="6962299"/>
            <a:ext cx="12793218"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100"/>
              <a:buFont typeface="Inter"/>
              <a:buNone/>
            </a:pPr>
            <a:r>
              <a:rPr b="0" i="0" lang="en-US" sz="2100" u="none" cap="none" strike="noStrike">
                <a:solidFill>
                  <a:srgbClr val="E8EAED"/>
                </a:solidFill>
                <a:latin typeface="Inter"/>
                <a:ea typeface="Inter"/>
                <a:cs typeface="Inter"/>
                <a:sym typeface="Inter"/>
              </a:rPr>
              <a:t>Output validation</a:t>
            </a:r>
            <a:endParaRPr b="0" i="0" sz="2100" u="none" cap="none" strike="noStrike">
              <a:solidFill>
                <a:schemeClr val="dk1"/>
              </a:solidFill>
              <a:latin typeface="Calibri"/>
              <a:ea typeface="Calibri"/>
              <a:cs typeface="Calibri"/>
              <a:sym typeface="Calibri"/>
            </a:endParaRPr>
          </a:p>
        </p:txBody>
      </p:sp>
      <p:sp>
        <p:nvSpPr>
          <p:cNvPr id="263" name="Google Shape;263;p7"/>
          <p:cNvSpPr/>
          <p:nvPr/>
        </p:nvSpPr>
        <p:spPr>
          <a:xfrm>
            <a:off x="2217420" y="7324249"/>
            <a:ext cx="12793218"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Inter"/>
              <a:buNone/>
            </a:pPr>
            <a:r>
              <a:rPr b="0" i="0" lang="en-US" sz="1800" u="none" cap="none" strike="noStrike">
                <a:solidFill>
                  <a:srgbClr val="7A808A"/>
                </a:solidFill>
                <a:latin typeface="Inter"/>
                <a:ea typeface="Inter"/>
                <a:cs typeface="Inter"/>
                <a:sym typeface="Inter"/>
              </a:rPr>
              <a:t>Checks for leakage, hijack phrasing, and approval-bypass attempts.</a:t>
            </a:r>
            <a:endParaRPr b="0" i="0" sz="1800" u="none" cap="none" strike="noStrike">
              <a:solidFill>
                <a:schemeClr val="dk1"/>
              </a:solidFill>
              <a:latin typeface="Calibri"/>
              <a:ea typeface="Calibri"/>
              <a:cs typeface="Calibri"/>
              <a:sym typeface="Calibri"/>
            </a:endParaRPr>
          </a:p>
        </p:txBody>
      </p:sp>
      <p:sp>
        <p:nvSpPr>
          <p:cNvPr id="264" name="Google Shape;264;p7"/>
          <p:cNvSpPr/>
          <p:nvPr/>
        </p:nvSpPr>
        <p:spPr>
          <a:xfrm>
            <a:off x="14866620" y="7129939"/>
            <a:ext cx="227076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validators.py</a:t>
            </a:r>
            <a:endParaRPr b="0" i="0" sz="1800" u="none" cap="none" strike="noStrike">
              <a:solidFill>
                <a:schemeClr val="dk1"/>
              </a:solidFill>
              <a:latin typeface="Calibri"/>
              <a:ea typeface="Calibri"/>
              <a:cs typeface="Calibri"/>
              <a:sym typeface="Calibri"/>
            </a:endParaRPr>
          </a:p>
        </p:txBody>
      </p:sp>
      <p:sp>
        <p:nvSpPr>
          <p:cNvPr id="265" name="Google Shape;265;p7"/>
          <p:cNvSpPr/>
          <p:nvPr/>
        </p:nvSpPr>
        <p:spPr>
          <a:xfrm>
            <a:off x="952500" y="7853839"/>
            <a:ext cx="16383000" cy="918210"/>
          </a:xfrm>
          <a:prstGeom prst="rect">
            <a:avLst/>
          </a:prstGeom>
          <a:solidFill>
            <a:srgbClr val="78FFB4">
              <a:alpha val="3921"/>
            </a:srgbClr>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1226820" y="8111014"/>
            <a:ext cx="838200" cy="4419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400"/>
              <a:buFont typeface="JetBrains Mono"/>
              <a:buNone/>
            </a:pPr>
            <a:r>
              <a:rPr b="0" i="0" lang="en-US" sz="2400" u="none" cap="none" strike="noStrike">
                <a:solidFill>
                  <a:srgbClr val="E8EAED"/>
                </a:solidFill>
                <a:latin typeface="JetBrains Mono"/>
                <a:ea typeface="JetBrains Mono"/>
                <a:cs typeface="JetBrains Mono"/>
                <a:sym typeface="JetBrains Mono"/>
              </a:rPr>
              <a:t>05</a:t>
            </a:r>
            <a:endParaRPr b="0" i="0" sz="2400" u="none" cap="none" strike="noStrike">
              <a:solidFill>
                <a:schemeClr val="dk1"/>
              </a:solidFill>
              <a:latin typeface="Calibri"/>
              <a:ea typeface="Calibri"/>
              <a:cs typeface="Calibri"/>
              <a:sym typeface="Calibri"/>
            </a:endParaRPr>
          </a:p>
        </p:txBody>
      </p:sp>
      <p:sp>
        <p:nvSpPr>
          <p:cNvPr id="267" name="Google Shape;267;p7"/>
          <p:cNvSpPr/>
          <p:nvPr/>
        </p:nvSpPr>
        <p:spPr>
          <a:xfrm>
            <a:off x="2217420" y="7994809"/>
            <a:ext cx="12934493"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2100"/>
              <a:buFont typeface="Inter"/>
              <a:buNone/>
            </a:pPr>
            <a:r>
              <a:rPr b="0" i="0" lang="en-US" sz="2100" u="none" cap="none" strike="noStrike">
                <a:solidFill>
                  <a:srgbClr val="E8EAED"/>
                </a:solidFill>
                <a:latin typeface="Inter"/>
                <a:ea typeface="Inter"/>
                <a:cs typeface="Inter"/>
                <a:sym typeface="Inter"/>
              </a:rPr>
              <a:t>Approval gate</a:t>
            </a:r>
            <a:endParaRPr b="0" i="0" sz="2100" u="none" cap="none" strike="noStrike">
              <a:solidFill>
                <a:schemeClr val="dk1"/>
              </a:solidFill>
              <a:latin typeface="Calibri"/>
              <a:ea typeface="Calibri"/>
              <a:cs typeface="Calibri"/>
              <a:sym typeface="Calibri"/>
            </a:endParaRPr>
          </a:p>
        </p:txBody>
      </p:sp>
      <p:sp>
        <p:nvSpPr>
          <p:cNvPr id="268" name="Google Shape;268;p7"/>
          <p:cNvSpPr/>
          <p:nvPr/>
        </p:nvSpPr>
        <p:spPr>
          <a:xfrm>
            <a:off x="2217420" y="8356759"/>
            <a:ext cx="12934493"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Inter"/>
              <a:buNone/>
            </a:pPr>
            <a:r>
              <a:rPr b="0" i="0" lang="en-US" sz="1800" u="none" cap="none" strike="noStrike">
                <a:solidFill>
                  <a:srgbClr val="7A808A"/>
                </a:solidFill>
                <a:latin typeface="Inter"/>
                <a:ea typeface="Inter"/>
                <a:cs typeface="Inter"/>
                <a:sym typeface="Inter"/>
              </a:rPr>
              <a:t>High-risk drafts route to a simulated human-in-the-loop.</a:t>
            </a:r>
            <a:endParaRPr b="0" i="0" sz="1800" u="none" cap="none" strike="noStrike">
              <a:solidFill>
                <a:schemeClr val="dk1"/>
              </a:solidFill>
              <a:latin typeface="Calibri"/>
              <a:ea typeface="Calibri"/>
              <a:cs typeface="Calibri"/>
              <a:sym typeface="Calibri"/>
            </a:endParaRPr>
          </a:p>
        </p:txBody>
      </p:sp>
      <p:sp>
        <p:nvSpPr>
          <p:cNvPr id="269" name="Google Shape;269;p7"/>
          <p:cNvSpPr/>
          <p:nvPr/>
        </p:nvSpPr>
        <p:spPr>
          <a:xfrm>
            <a:off x="15003781" y="8162449"/>
            <a:ext cx="21336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 approvals.py</a:t>
            </a:r>
            <a:endParaRPr b="0" i="0" sz="1800" u="none" cap="none" strike="noStrike">
              <a:solidFill>
                <a:schemeClr val="dk1"/>
              </a:solidFill>
              <a:latin typeface="Calibri"/>
              <a:ea typeface="Calibri"/>
              <a:cs typeface="Calibri"/>
              <a:sym typeface="Calibri"/>
            </a:endParaRPr>
          </a:p>
        </p:txBody>
      </p:sp>
      <p:sp>
        <p:nvSpPr>
          <p:cNvPr id="270" name="Google Shape;270;p7"/>
          <p:cNvSpPr/>
          <p:nvPr/>
        </p:nvSpPr>
        <p:spPr>
          <a:xfrm>
            <a:off x="12663989" y="9452610"/>
            <a:ext cx="4671511"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no single layer must be </a:t>
            </a:r>
            <a:r>
              <a:rPr b="0" i="0" lang="en-US" sz="1800" u="none" cap="none" strike="noStrike">
                <a:solidFill>
                  <a:srgbClr val="4F545D"/>
                </a:solidFill>
                <a:latin typeface="JetBrains Mono"/>
                <a:ea typeface="JetBrains Mono"/>
                <a:cs typeface="JetBrains Mono"/>
                <a:sym typeface="JetBrains Mono"/>
              </a:rPr>
              <a:t>p</a:t>
            </a:r>
            <a:r>
              <a:rPr b="0" i="0" lang="en-US" sz="1800" u="none" cap="none" strike="noStrike">
                <a:solidFill>
                  <a:srgbClr val="4F545D"/>
                </a:solidFill>
                <a:latin typeface="JetBrains Mono"/>
                <a:ea typeface="JetBrains Mono"/>
                <a:cs typeface="JetBrains Mono"/>
                <a:sym typeface="JetBrains Mono"/>
              </a:rPr>
              <a:t>erfect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275" name="Shape 275"/>
        <p:cNvGrpSpPr/>
        <p:nvPr/>
      </p:nvGrpSpPr>
      <p:grpSpPr>
        <a:xfrm>
          <a:off x="0" y="0"/>
          <a:ext cx="0" cy="0"/>
          <a:chOff x="0" y="0"/>
          <a:chExt cx="0" cy="0"/>
        </a:xfrm>
      </p:grpSpPr>
      <p:sp>
        <p:nvSpPr>
          <p:cNvPr id="276" name="Google Shape;276;p8"/>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08 / 11</a:t>
            </a:r>
            <a:endParaRPr b="0" i="0" sz="1800" u="none" cap="none" strike="noStrike">
              <a:solidFill>
                <a:schemeClr val="dk1"/>
              </a:solidFill>
              <a:latin typeface="Calibri"/>
              <a:ea typeface="Calibri"/>
              <a:cs typeface="Calibri"/>
              <a:sym typeface="Calibri"/>
            </a:endParaRPr>
          </a:p>
        </p:txBody>
      </p:sp>
      <p:sp>
        <p:nvSpPr>
          <p:cNvPr id="277" name="Google Shape;277;p8"/>
          <p:cNvSpPr/>
          <p:nvPr/>
        </p:nvSpPr>
        <p:spPr>
          <a:xfrm>
            <a:off x="14020203" y="533400"/>
            <a:ext cx="3315298"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EVALUATION METHODOLOGY</a:t>
            </a:r>
            <a:endParaRPr b="0" i="0" sz="1800" u="none" cap="none" strike="noStrike">
              <a:solidFill>
                <a:schemeClr val="dk1"/>
              </a:solidFill>
              <a:latin typeface="Calibri"/>
              <a:ea typeface="Calibri"/>
              <a:cs typeface="Calibri"/>
              <a:sym typeface="Calibri"/>
            </a:endParaRPr>
          </a:p>
        </p:txBody>
      </p:sp>
      <p:sp>
        <p:nvSpPr>
          <p:cNvPr id="278" name="Google Shape;278;p8"/>
          <p:cNvSpPr/>
          <p:nvPr/>
        </p:nvSpPr>
        <p:spPr>
          <a:xfrm>
            <a:off x="952500" y="1333500"/>
            <a:ext cx="16874490" cy="1702237"/>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E8EAED"/>
              </a:buClr>
              <a:buSzPts val="6300"/>
              <a:buFont typeface="Inter"/>
              <a:buNone/>
            </a:pPr>
            <a:r>
              <a:rPr b="1" i="0" lang="en-US" sz="6300" u="none" cap="none" strike="noStrike">
                <a:solidFill>
                  <a:srgbClr val="E8EAED"/>
                </a:solidFill>
                <a:latin typeface="Inter"/>
                <a:ea typeface="Inter"/>
                <a:cs typeface="Inter"/>
                <a:sym typeface="Inter"/>
              </a:rPr>
              <a:t>Same scenarios. Both pipelines. Five metrics.</a:t>
            </a:r>
            <a:endParaRPr b="0" i="0" sz="6300" u="none" cap="none" strike="noStrike">
              <a:solidFill>
                <a:schemeClr val="dk1"/>
              </a:solidFill>
              <a:latin typeface="Calibri"/>
              <a:ea typeface="Calibri"/>
              <a:cs typeface="Calibri"/>
              <a:sym typeface="Calibri"/>
            </a:endParaRPr>
          </a:p>
        </p:txBody>
      </p:sp>
      <p:sp>
        <p:nvSpPr>
          <p:cNvPr id="279" name="Google Shape;279;p8"/>
          <p:cNvSpPr/>
          <p:nvPr/>
        </p:nvSpPr>
        <p:spPr>
          <a:xfrm>
            <a:off x="952500" y="3607237"/>
            <a:ext cx="4517529" cy="6207443"/>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1303020" y="4703088"/>
            <a:ext cx="3930984"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SCENARIO SET</a:t>
            </a:r>
            <a:endParaRPr b="0" i="0" sz="1800" u="none" cap="none" strike="noStrike">
              <a:solidFill>
                <a:schemeClr val="dk1"/>
              </a:solidFill>
              <a:latin typeface="Calibri"/>
              <a:ea typeface="Calibri"/>
              <a:cs typeface="Calibri"/>
              <a:sym typeface="Calibri"/>
            </a:endParaRPr>
          </a:p>
        </p:txBody>
      </p:sp>
      <p:sp>
        <p:nvSpPr>
          <p:cNvPr id="281" name="Google Shape;281;p8"/>
          <p:cNvSpPr/>
          <p:nvPr/>
        </p:nvSpPr>
        <p:spPr>
          <a:xfrm>
            <a:off x="1303020" y="5080278"/>
            <a:ext cx="3930984" cy="23241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E8EAED"/>
              </a:buClr>
              <a:buSzPts val="18000"/>
              <a:buFont typeface="Inter"/>
              <a:buNone/>
            </a:pPr>
            <a:r>
              <a:rPr b="1" i="0" lang="en-US" sz="18000" u="none" cap="none" strike="noStrike">
                <a:solidFill>
                  <a:srgbClr val="E8EAED"/>
                </a:solidFill>
                <a:latin typeface="Inter"/>
                <a:ea typeface="Inter"/>
                <a:cs typeface="Inter"/>
                <a:sym typeface="Inter"/>
              </a:rPr>
              <a:t>21</a:t>
            </a:r>
            <a:endParaRPr b="0" i="0" sz="18000" u="none" cap="none" strike="noStrike">
              <a:solidFill>
                <a:schemeClr val="dk1"/>
              </a:solidFill>
              <a:latin typeface="Calibri"/>
              <a:ea typeface="Calibri"/>
              <a:cs typeface="Calibri"/>
              <a:sym typeface="Calibri"/>
            </a:endParaRPr>
          </a:p>
        </p:txBody>
      </p:sp>
      <p:sp>
        <p:nvSpPr>
          <p:cNvPr id="282" name="Google Shape;282;p8"/>
          <p:cNvSpPr/>
          <p:nvPr/>
        </p:nvSpPr>
        <p:spPr>
          <a:xfrm>
            <a:off x="1303020" y="7518678"/>
            <a:ext cx="3930984" cy="12382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7A808A"/>
              </a:buClr>
              <a:buSzPts val="2100"/>
              <a:buFont typeface="JetBrains Mono"/>
              <a:buNone/>
            </a:pPr>
            <a:r>
              <a:rPr b="0" i="0" lang="en-US" sz="2100" u="none" cap="none" strike="noStrike">
                <a:solidFill>
                  <a:srgbClr val="7A808A"/>
                </a:solidFill>
                <a:latin typeface="JetBrains Mono"/>
                <a:ea typeface="JetBrains Mono"/>
                <a:cs typeface="JetBrains Mono"/>
                <a:sym typeface="JetBrains Mono"/>
              </a:rPr>
              <a:t>scenarios · benign + adversarial · run on both</a:t>
            </a:r>
            <a:endParaRPr b="0" i="0" sz="2100" u="none" cap="none" strike="noStrike">
              <a:solidFill>
                <a:schemeClr val="dk1"/>
              </a:solidFill>
              <a:latin typeface="Calibri"/>
              <a:ea typeface="Calibri"/>
              <a:cs typeface="Calibri"/>
              <a:sym typeface="Calibri"/>
            </a:endParaRPr>
          </a:p>
        </p:txBody>
      </p:sp>
      <p:sp>
        <p:nvSpPr>
          <p:cNvPr id="283" name="Google Shape;283;p8"/>
          <p:cNvSpPr/>
          <p:nvPr/>
        </p:nvSpPr>
        <p:spPr>
          <a:xfrm>
            <a:off x="6041529" y="3607237"/>
            <a:ext cx="1163279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METRICS TRACKED PER RUN</a:t>
            </a:r>
            <a:endParaRPr b="0" i="0" sz="1800" u="none" cap="none" strike="noStrike">
              <a:solidFill>
                <a:schemeClr val="dk1"/>
              </a:solidFill>
              <a:latin typeface="Calibri"/>
              <a:ea typeface="Calibri"/>
              <a:cs typeface="Calibri"/>
              <a:sym typeface="Calibri"/>
            </a:endParaRPr>
          </a:p>
        </p:txBody>
      </p:sp>
      <p:sp>
        <p:nvSpPr>
          <p:cNvPr id="284" name="Google Shape;284;p8"/>
          <p:cNvSpPr/>
          <p:nvPr/>
        </p:nvSpPr>
        <p:spPr>
          <a:xfrm>
            <a:off x="6041529" y="4136827"/>
            <a:ext cx="5561231" cy="1906905"/>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a:off x="6392049" y="4487347"/>
            <a:ext cx="5005997"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M1 · ATTACK SUCCESS</a:t>
            </a:r>
            <a:endParaRPr b="0" i="0" sz="1800" u="none" cap="none" strike="noStrike">
              <a:solidFill>
                <a:schemeClr val="dk1"/>
              </a:solidFill>
              <a:latin typeface="Calibri"/>
              <a:ea typeface="Calibri"/>
              <a:cs typeface="Calibri"/>
              <a:sym typeface="Calibri"/>
            </a:endParaRPr>
          </a:p>
        </p:txBody>
      </p:sp>
      <p:sp>
        <p:nvSpPr>
          <p:cNvPr id="286" name="Google Shape;286;p8"/>
          <p:cNvSpPr/>
          <p:nvPr/>
        </p:nvSpPr>
        <p:spPr>
          <a:xfrm>
            <a:off x="6392049" y="4921687"/>
            <a:ext cx="5005997" cy="809625"/>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E8EAED"/>
              </a:buClr>
              <a:buSzPts val="2250"/>
              <a:buFont typeface="Inter"/>
              <a:buNone/>
            </a:pPr>
            <a:r>
              <a:rPr b="0" i="0" lang="en-US" sz="2250" u="none" cap="none" strike="noStrike">
                <a:solidFill>
                  <a:srgbClr val="E8EAED"/>
                </a:solidFill>
                <a:latin typeface="Inter"/>
                <a:ea typeface="Inter"/>
                <a:cs typeface="Inter"/>
                <a:sym typeface="Inter"/>
              </a:rPr>
              <a:t>Did the malicious payload get its way?</a:t>
            </a:r>
            <a:endParaRPr b="0" i="0" sz="2250" u="none" cap="none" strike="noStrike">
              <a:solidFill>
                <a:schemeClr val="dk1"/>
              </a:solidFill>
              <a:latin typeface="Calibri"/>
              <a:ea typeface="Calibri"/>
              <a:cs typeface="Calibri"/>
              <a:sym typeface="Calibri"/>
            </a:endParaRPr>
          </a:p>
        </p:txBody>
      </p:sp>
      <p:sp>
        <p:nvSpPr>
          <p:cNvPr id="287" name="Google Shape;287;p8"/>
          <p:cNvSpPr/>
          <p:nvPr/>
        </p:nvSpPr>
        <p:spPr>
          <a:xfrm>
            <a:off x="11774210" y="4136827"/>
            <a:ext cx="5561290" cy="1906905"/>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12124730" y="4487347"/>
            <a:ext cx="500605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M2 · BENIGN SUCCESS</a:t>
            </a:r>
            <a:endParaRPr b="0" i="0" sz="1800" u="none" cap="none" strike="noStrike">
              <a:solidFill>
                <a:schemeClr val="dk1"/>
              </a:solidFill>
              <a:latin typeface="Calibri"/>
              <a:ea typeface="Calibri"/>
              <a:cs typeface="Calibri"/>
              <a:sym typeface="Calibri"/>
            </a:endParaRPr>
          </a:p>
        </p:txBody>
      </p:sp>
      <p:sp>
        <p:nvSpPr>
          <p:cNvPr id="289" name="Google Shape;289;p8"/>
          <p:cNvSpPr/>
          <p:nvPr/>
        </p:nvSpPr>
        <p:spPr>
          <a:xfrm>
            <a:off x="12124730" y="4921687"/>
            <a:ext cx="5006058" cy="423863"/>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E8EAED"/>
              </a:buClr>
              <a:buSzPts val="2250"/>
              <a:buFont typeface="Inter"/>
              <a:buNone/>
            </a:pPr>
            <a:r>
              <a:rPr b="0" i="0" lang="en-US" sz="2250" u="none" cap="none" strike="noStrike">
                <a:solidFill>
                  <a:srgbClr val="E8EAED"/>
                </a:solidFill>
                <a:latin typeface="Inter"/>
                <a:ea typeface="Inter"/>
                <a:cs typeface="Inter"/>
                <a:sym typeface="Inter"/>
              </a:rPr>
              <a:t>Did normal work still get done?</a:t>
            </a:r>
            <a:endParaRPr b="0" i="0" sz="2250" u="none" cap="none" strike="noStrike">
              <a:solidFill>
                <a:schemeClr val="dk1"/>
              </a:solidFill>
              <a:latin typeface="Calibri"/>
              <a:ea typeface="Calibri"/>
              <a:cs typeface="Calibri"/>
              <a:sym typeface="Calibri"/>
            </a:endParaRPr>
          </a:p>
        </p:txBody>
      </p:sp>
      <p:sp>
        <p:nvSpPr>
          <p:cNvPr id="290" name="Google Shape;290;p8"/>
          <p:cNvSpPr/>
          <p:nvPr/>
        </p:nvSpPr>
        <p:spPr>
          <a:xfrm>
            <a:off x="6041529" y="6215182"/>
            <a:ext cx="5561231" cy="1906905"/>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6392049" y="6565702"/>
            <a:ext cx="5005997"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M3 · LEAKAGE</a:t>
            </a:r>
            <a:endParaRPr b="0" i="0" sz="1800" u="none" cap="none" strike="noStrike">
              <a:solidFill>
                <a:schemeClr val="dk1"/>
              </a:solidFill>
              <a:latin typeface="Calibri"/>
              <a:ea typeface="Calibri"/>
              <a:cs typeface="Calibri"/>
              <a:sym typeface="Calibri"/>
            </a:endParaRPr>
          </a:p>
        </p:txBody>
      </p:sp>
      <p:sp>
        <p:nvSpPr>
          <p:cNvPr id="292" name="Google Shape;292;p8"/>
          <p:cNvSpPr/>
          <p:nvPr/>
        </p:nvSpPr>
        <p:spPr>
          <a:xfrm>
            <a:off x="6392049" y="7000042"/>
            <a:ext cx="5005997" cy="423863"/>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E8EAED"/>
              </a:buClr>
              <a:buSzPts val="2250"/>
              <a:buFont typeface="Inter"/>
              <a:buNone/>
            </a:pPr>
            <a:r>
              <a:rPr b="0" i="0" lang="en-US" sz="2250" u="none" cap="none" strike="noStrike">
                <a:solidFill>
                  <a:srgbClr val="E8EAED"/>
                </a:solidFill>
                <a:latin typeface="Inter"/>
                <a:ea typeface="Inter"/>
                <a:cs typeface="Inter"/>
                <a:sym typeface="Inter"/>
              </a:rPr>
              <a:t>Did confidential tokens escape?</a:t>
            </a:r>
            <a:endParaRPr b="0" i="0" sz="2250" u="none" cap="none" strike="noStrike">
              <a:solidFill>
                <a:schemeClr val="dk1"/>
              </a:solidFill>
              <a:latin typeface="Calibri"/>
              <a:ea typeface="Calibri"/>
              <a:cs typeface="Calibri"/>
              <a:sym typeface="Calibri"/>
            </a:endParaRPr>
          </a:p>
        </p:txBody>
      </p:sp>
      <p:sp>
        <p:nvSpPr>
          <p:cNvPr id="293" name="Google Shape;293;p8"/>
          <p:cNvSpPr/>
          <p:nvPr/>
        </p:nvSpPr>
        <p:spPr>
          <a:xfrm>
            <a:off x="11774210" y="6215182"/>
            <a:ext cx="5561290" cy="1906905"/>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12124730" y="6565702"/>
            <a:ext cx="5006058"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M4 · BLOCKED-UNSAFE</a:t>
            </a:r>
            <a:endParaRPr b="0" i="0" sz="1800" u="none" cap="none" strike="noStrike">
              <a:solidFill>
                <a:schemeClr val="dk1"/>
              </a:solidFill>
              <a:latin typeface="Calibri"/>
              <a:ea typeface="Calibri"/>
              <a:cs typeface="Calibri"/>
              <a:sym typeface="Calibri"/>
            </a:endParaRPr>
          </a:p>
        </p:txBody>
      </p:sp>
      <p:sp>
        <p:nvSpPr>
          <p:cNvPr id="295" name="Google Shape;295;p8"/>
          <p:cNvSpPr/>
          <p:nvPr/>
        </p:nvSpPr>
        <p:spPr>
          <a:xfrm>
            <a:off x="12124730" y="7000042"/>
            <a:ext cx="5006058" cy="809625"/>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E8EAED"/>
              </a:buClr>
              <a:buSzPts val="2250"/>
              <a:buFont typeface="Inter"/>
              <a:buNone/>
            </a:pPr>
            <a:r>
              <a:rPr b="0" i="0" lang="en-US" sz="2250" u="none" cap="none" strike="noStrike">
                <a:solidFill>
                  <a:srgbClr val="E8EAED"/>
                </a:solidFill>
                <a:latin typeface="Inter"/>
                <a:ea typeface="Inter"/>
                <a:cs typeface="Inter"/>
                <a:sym typeface="Inter"/>
              </a:rPr>
              <a:t>Did controls catch what should be blocked?</a:t>
            </a:r>
            <a:endParaRPr b="0" i="0" sz="2250" u="none" cap="none" strike="noStrike">
              <a:solidFill>
                <a:schemeClr val="dk1"/>
              </a:solidFill>
              <a:latin typeface="Calibri"/>
              <a:ea typeface="Calibri"/>
              <a:cs typeface="Calibri"/>
              <a:sym typeface="Calibri"/>
            </a:endParaRPr>
          </a:p>
        </p:txBody>
      </p:sp>
      <p:sp>
        <p:nvSpPr>
          <p:cNvPr id="296" name="Google Shape;296;p8"/>
          <p:cNvSpPr/>
          <p:nvPr/>
        </p:nvSpPr>
        <p:spPr>
          <a:xfrm>
            <a:off x="6041529" y="8293537"/>
            <a:ext cx="11293971" cy="1521142"/>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a:off x="6392049" y="8644057"/>
            <a:ext cx="10910719"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M5 · FALSE POSITIVE</a:t>
            </a:r>
            <a:endParaRPr b="0" i="0" sz="1800" u="none" cap="none" strike="noStrike">
              <a:solidFill>
                <a:schemeClr val="dk1"/>
              </a:solidFill>
              <a:latin typeface="Calibri"/>
              <a:ea typeface="Calibri"/>
              <a:cs typeface="Calibri"/>
              <a:sym typeface="Calibri"/>
            </a:endParaRPr>
          </a:p>
        </p:txBody>
      </p:sp>
      <p:sp>
        <p:nvSpPr>
          <p:cNvPr id="298" name="Google Shape;298;p8"/>
          <p:cNvSpPr/>
          <p:nvPr/>
        </p:nvSpPr>
        <p:spPr>
          <a:xfrm>
            <a:off x="6392049" y="9078396"/>
            <a:ext cx="10910719" cy="423863"/>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E8EAED"/>
              </a:buClr>
              <a:buSzPts val="2250"/>
              <a:buFont typeface="Inter"/>
              <a:buNone/>
            </a:pPr>
            <a:r>
              <a:rPr b="0" i="0" lang="en-US" sz="2250" u="none" cap="none" strike="noStrike">
                <a:solidFill>
                  <a:srgbClr val="E8EAED"/>
                </a:solidFill>
                <a:latin typeface="Inter"/>
                <a:ea typeface="Inter"/>
                <a:cs typeface="Inter"/>
                <a:sym typeface="Inter"/>
              </a:rPr>
              <a:t>Did defenses overblock benign work?</a:t>
            </a:r>
            <a:endParaRPr b="0" i="0" sz="2250" u="none" cap="none" strike="noStrike">
              <a:solidFill>
                <a:schemeClr val="dk1"/>
              </a:solidFill>
              <a:latin typeface="Calibri"/>
              <a:ea typeface="Calibri"/>
              <a:cs typeface="Calibri"/>
              <a:sym typeface="Calibri"/>
            </a:endParaRPr>
          </a:p>
        </p:txBody>
      </p:sp>
      <p:sp>
        <p:nvSpPr>
          <p:cNvPr id="299" name="Google Shape;299;p8"/>
          <p:cNvSpPr/>
          <p:nvPr/>
        </p:nvSpPr>
        <p:spPr>
          <a:xfrm>
            <a:off x="16381452" y="9452610"/>
            <a:ext cx="954048"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n </a:t>
            </a:r>
            <a:r>
              <a:rPr b="0" i="0" lang="en-US" sz="1800" u="none" cap="none" strike="noStrike">
                <a:solidFill>
                  <a:srgbClr val="7A808A"/>
                </a:solidFill>
                <a:latin typeface="JetBrains Mono"/>
                <a:ea typeface="JetBrains Mono"/>
                <a:cs typeface="JetBrains Mono"/>
                <a:sym typeface="JetBrains Mono"/>
              </a:rPr>
              <a:t>= 21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304" name="Shape 304"/>
        <p:cNvGrpSpPr/>
        <p:nvPr/>
      </p:nvGrpSpPr>
      <p:grpSpPr>
        <a:xfrm>
          <a:off x="0" y="0"/>
          <a:ext cx="0" cy="0"/>
          <a:chOff x="0" y="0"/>
          <a:chExt cx="0" cy="0"/>
        </a:xfrm>
      </p:grpSpPr>
      <p:sp>
        <p:nvSpPr>
          <p:cNvPr id="305" name="Google Shape;305;p9"/>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09 / 11</a:t>
            </a:r>
            <a:endParaRPr b="0" i="0" sz="1800" u="none" cap="none" strike="noStrike">
              <a:solidFill>
                <a:schemeClr val="dk1"/>
              </a:solidFill>
              <a:latin typeface="Calibri"/>
              <a:ea typeface="Calibri"/>
              <a:cs typeface="Calibri"/>
              <a:sym typeface="Calibri"/>
            </a:endParaRPr>
          </a:p>
        </p:txBody>
      </p:sp>
      <p:sp>
        <p:nvSpPr>
          <p:cNvPr id="306" name="Google Shape;306;p9"/>
          <p:cNvSpPr/>
          <p:nvPr/>
        </p:nvSpPr>
        <p:spPr>
          <a:xfrm>
            <a:off x="13730663" y="533400"/>
            <a:ext cx="3604837"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RESULTS</a:t>
            </a:r>
            <a:endParaRPr b="0" i="0" sz="1800" u="none" cap="none" strike="noStrike">
              <a:solidFill>
                <a:schemeClr val="dk1"/>
              </a:solidFill>
              <a:latin typeface="Calibri"/>
              <a:ea typeface="Calibri"/>
              <a:cs typeface="Calibri"/>
              <a:sym typeface="Calibri"/>
            </a:endParaRPr>
          </a:p>
        </p:txBody>
      </p:sp>
      <p:sp>
        <p:nvSpPr>
          <p:cNvPr id="307" name="Google Shape;307;p9"/>
          <p:cNvSpPr/>
          <p:nvPr/>
        </p:nvSpPr>
        <p:spPr>
          <a:xfrm>
            <a:off x="952500" y="1333500"/>
            <a:ext cx="16874490" cy="870168"/>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E8EAED"/>
              </a:buClr>
              <a:buSzPts val="6300"/>
              <a:buFont typeface="Inter"/>
              <a:buNone/>
            </a:pPr>
            <a:r>
              <a:rPr b="1" i="0" lang="en-US" sz="6300" u="none" cap="none" strike="noStrike">
                <a:solidFill>
                  <a:srgbClr val="E8EAED"/>
                </a:solidFill>
                <a:latin typeface="Inter"/>
                <a:ea typeface="Inter"/>
                <a:cs typeface="Inter"/>
                <a:sym typeface="Inter"/>
              </a:rPr>
              <a:t>The gap.</a:t>
            </a:r>
            <a:endParaRPr b="0" i="0" sz="6300" u="none" cap="none" strike="noStrike">
              <a:solidFill>
                <a:schemeClr val="dk1"/>
              </a:solidFill>
              <a:latin typeface="Calibri"/>
              <a:ea typeface="Calibri"/>
              <a:cs typeface="Calibri"/>
              <a:sym typeface="Calibri"/>
            </a:endParaRPr>
          </a:p>
        </p:txBody>
      </p:sp>
      <p:sp>
        <p:nvSpPr>
          <p:cNvPr id="308" name="Google Shape;308;p9"/>
          <p:cNvSpPr/>
          <p:nvPr/>
        </p:nvSpPr>
        <p:spPr>
          <a:xfrm>
            <a:off x="952500" y="2394168"/>
            <a:ext cx="13735050" cy="46482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B8BCC4"/>
              </a:buClr>
              <a:buSzPts val="2400"/>
              <a:buFont typeface="Inter"/>
              <a:buNone/>
            </a:pPr>
            <a:r>
              <a:rPr b="0" i="0" lang="en-US" sz="2400" u="none" cap="none" strike="noStrike">
                <a:solidFill>
                  <a:srgbClr val="B8BCC4"/>
                </a:solidFill>
                <a:latin typeface="Inter"/>
                <a:ea typeface="Inter"/>
                <a:cs typeface="Inter"/>
                <a:sym typeface="Inter"/>
              </a:rPr>
              <a:t>Same 21 scenarios. Both pipelines. Synthetic set.</a:t>
            </a:r>
            <a:endParaRPr b="0" i="0" sz="2400" u="none" cap="none" strike="noStrike">
              <a:solidFill>
                <a:schemeClr val="dk1"/>
              </a:solidFill>
              <a:latin typeface="Calibri"/>
              <a:ea typeface="Calibri"/>
              <a:cs typeface="Calibri"/>
              <a:sym typeface="Calibri"/>
            </a:endParaRPr>
          </a:p>
        </p:txBody>
      </p:sp>
      <p:sp>
        <p:nvSpPr>
          <p:cNvPr id="309" name="Google Shape;309;p9"/>
          <p:cNvSpPr/>
          <p:nvPr/>
        </p:nvSpPr>
        <p:spPr>
          <a:xfrm>
            <a:off x="952500" y="3278088"/>
            <a:ext cx="5257800" cy="3802380"/>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a:off x="1264920" y="3628608"/>
            <a:ext cx="4771949"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 ATTACK SUCCESS</a:t>
            </a:r>
            <a:endParaRPr b="0" i="0" sz="1800" u="none" cap="none" strike="noStrike">
              <a:solidFill>
                <a:schemeClr val="dk1"/>
              </a:solidFill>
              <a:latin typeface="Calibri"/>
              <a:ea typeface="Calibri"/>
              <a:cs typeface="Calibri"/>
              <a:sym typeface="Calibri"/>
            </a:endParaRPr>
          </a:p>
        </p:txBody>
      </p:sp>
      <p:sp>
        <p:nvSpPr>
          <p:cNvPr id="311" name="Google Shape;311;p9"/>
          <p:cNvSpPr/>
          <p:nvPr/>
        </p:nvSpPr>
        <p:spPr>
          <a:xfrm>
            <a:off x="1264920" y="4158198"/>
            <a:ext cx="2155627"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000000"/>
              </a:buClr>
              <a:buSzPts val="10500"/>
              <a:buFont typeface="Inter"/>
              <a:buNone/>
            </a:pPr>
            <a:r>
              <a:rPr b="1" i="0" lang="en-US" sz="9700" u="none" cap="none" strike="noStrike">
                <a:solidFill>
                  <a:schemeClr val="lt1"/>
                </a:solidFill>
                <a:latin typeface="Inter"/>
                <a:ea typeface="Inter"/>
                <a:cs typeface="Inter"/>
                <a:sym typeface="Inter"/>
              </a:rPr>
              <a:t>70</a:t>
            </a:r>
            <a:r>
              <a:rPr b="1" i="0" lang="en-US" sz="4000" u="none" cap="none" strike="noStrike">
                <a:solidFill>
                  <a:schemeClr val="lt1"/>
                </a:solidFill>
                <a:latin typeface="Inter"/>
                <a:ea typeface="Inter"/>
                <a:cs typeface="Inter"/>
                <a:sym typeface="Inter"/>
              </a:rPr>
              <a:t>%</a:t>
            </a:r>
            <a:endParaRPr b="0" i="0" sz="9700" u="none" cap="none" strike="noStrike">
              <a:solidFill>
                <a:schemeClr val="lt1"/>
              </a:solidFill>
              <a:latin typeface="Calibri"/>
              <a:ea typeface="Calibri"/>
              <a:cs typeface="Calibri"/>
              <a:sym typeface="Calibri"/>
            </a:endParaRPr>
          </a:p>
        </p:txBody>
      </p:sp>
      <p:sp>
        <p:nvSpPr>
          <p:cNvPr id="312" name="Google Shape;312;p9"/>
          <p:cNvSpPr/>
          <p:nvPr/>
        </p:nvSpPr>
        <p:spPr>
          <a:xfrm>
            <a:off x="3496747" y="4981158"/>
            <a:ext cx="338733"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2400"/>
              <a:buFont typeface="JetBrains Mono"/>
              <a:buNone/>
            </a:pPr>
            <a:r>
              <a:rPr b="0" i="0" lang="en-US" sz="2400" u="none" cap="none" strike="noStrike">
                <a:solidFill>
                  <a:srgbClr val="4F545D"/>
                </a:solidFill>
                <a:latin typeface="JetBrains Mono"/>
                <a:ea typeface="JetBrains Mono"/>
                <a:cs typeface="JetBrains Mono"/>
                <a:sym typeface="JetBrains Mono"/>
              </a:rPr>
              <a:t>▶</a:t>
            </a:r>
            <a:endParaRPr b="0" i="0" sz="2400" u="none" cap="none" strike="noStrike">
              <a:solidFill>
                <a:schemeClr val="dk1"/>
              </a:solidFill>
              <a:latin typeface="Calibri"/>
              <a:ea typeface="Calibri"/>
              <a:cs typeface="Calibri"/>
              <a:sym typeface="Calibri"/>
            </a:endParaRPr>
          </a:p>
        </p:txBody>
      </p:sp>
      <p:sp>
        <p:nvSpPr>
          <p:cNvPr id="313" name="Google Shape;313;p9"/>
          <p:cNvSpPr/>
          <p:nvPr/>
        </p:nvSpPr>
        <p:spPr>
          <a:xfrm>
            <a:off x="3911673" y="4158200"/>
            <a:ext cx="2072400"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E8EAED"/>
              </a:buClr>
              <a:buSzPts val="10500"/>
              <a:buFont typeface="Inter"/>
              <a:buNone/>
            </a:pPr>
            <a:r>
              <a:rPr b="1" i="0" lang="en-US" sz="10500" u="none" cap="none" strike="noStrike">
                <a:solidFill>
                  <a:schemeClr val="lt1"/>
                </a:solidFill>
                <a:latin typeface="Inter"/>
                <a:ea typeface="Inter"/>
                <a:cs typeface="Inter"/>
                <a:sym typeface="Inter"/>
              </a:rPr>
              <a:t>0</a:t>
            </a:r>
            <a:r>
              <a:rPr b="1" lang="en-US" sz="4000">
                <a:solidFill>
                  <a:schemeClr val="lt1"/>
                </a:solidFill>
                <a:latin typeface="Inter"/>
                <a:ea typeface="Inter"/>
                <a:cs typeface="Inter"/>
                <a:sym typeface="Inter"/>
              </a:rPr>
              <a:t>%</a:t>
            </a:r>
            <a:endParaRPr b="0" i="0" sz="10500" u="none" cap="none" strike="noStrike">
              <a:solidFill>
                <a:schemeClr val="lt1"/>
              </a:solidFill>
              <a:latin typeface="Calibri"/>
              <a:ea typeface="Calibri"/>
              <a:cs typeface="Calibri"/>
              <a:sym typeface="Calibri"/>
            </a:endParaRPr>
          </a:p>
        </p:txBody>
      </p:sp>
      <p:sp>
        <p:nvSpPr>
          <p:cNvPr id="314" name="Google Shape;314;p9"/>
          <p:cNvSpPr/>
          <p:nvPr/>
        </p:nvSpPr>
        <p:spPr>
          <a:xfrm>
            <a:off x="1264920" y="5758399"/>
            <a:ext cx="4771949"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7A808A"/>
              </a:buClr>
              <a:buSzPts val="2100"/>
              <a:buFont typeface="JetBrains Mono"/>
              <a:buNone/>
            </a:pPr>
            <a:r>
              <a:rPr b="0" i="0" lang="en-US" sz="2100" u="none" cap="none" strike="noStrike">
                <a:solidFill>
                  <a:srgbClr val="7A808A"/>
                </a:solidFill>
                <a:latin typeface="JetBrains Mono"/>
                <a:ea typeface="JetBrains Mono"/>
                <a:cs typeface="JetBrains Mono"/>
                <a:sym typeface="JetBrains Mono"/>
              </a:rPr>
              <a:t>malicious payload landed</a:t>
            </a:r>
            <a:endParaRPr b="0" i="0" sz="2100" u="none" cap="none" strike="noStrike">
              <a:solidFill>
                <a:schemeClr val="dk1"/>
              </a:solidFill>
              <a:latin typeface="Calibri"/>
              <a:ea typeface="Calibri"/>
              <a:cs typeface="Calibri"/>
              <a:sym typeface="Calibri"/>
            </a:endParaRPr>
          </a:p>
        </p:txBody>
      </p:sp>
      <p:sp>
        <p:nvSpPr>
          <p:cNvPr id="315" name="Google Shape;315;p9"/>
          <p:cNvSpPr/>
          <p:nvPr/>
        </p:nvSpPr>
        <p:spPr>
          <a:xfrm>
            <a:off x="6515100" y="3278088"/>
            <a:ext cx="5257800" cy="3802380"/>
          </a:xfrm>
          <a:prstGeom prst="rect">
            <a:avLst/>
          </a:prstGeom>
          <a:solidFill>
            <a:srgbClr val="15181D"/>
          </a:solidFill>
          <a:ln cap="flat" cmpd="sng" w="9525">
            <a:solidFill>
              <a:srgbClr val="2328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6827520" y="3628608"/>
            <a:ext cx="4771949"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rgbClr val="000000"/>
                </a:solidFill>
                <a:latin typeface="JetBrains Mono"/>
                <a:ea typeface="JetBrains Mono"/>
                <a:cs typeface="JetBrains Mono"/>
                <a:sym typeface="JetBrains Mono"/>
              </a:rPr>
              <a:t>// CONFIDENTIAL LEAK</a:t>
            </a:r>
            <a:endParaRPr b="0" i="0" sz="1800" u="none" cap="none" strike="noStrike">
              <a:solidFill>
                <a:schemeClr val="dk1"/>
              </a:solidFill>
              <a:latin typeface="Calibri"/>
              <a:ea typeface="Calibri"/>
              <a:cs typeface="Calibri"/>
              <a:sym typeface="Calibri"/>
            </a:endParaRPr>
          </a:p>
        </p:txBody>
      </p:sp>
      <p:sp>
        <p:nvSpPr>
          <p:cNvPr id="317" name="Google Shape;317;p9"/>
          <p:cNvSpPr/>
          <p:nvPr/>
        </p:nvSpPr>
        <p:spPr>
          <a:xfrm>
            <a:off x="6827520" y="4158198"/>
            <a:ext cx="1945303"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000000"/>
              </a:buClr>
              <a:buSzPts val="10500"/>
              <a:buFont typeface="Inter"/>
              <a:buNone/>
            </a:pPr>
            <a:r>
              <a:rPr b="1" i="0" lang="en-US" sz="9700" u="none" cap="none" strike="noStrike">
                <a:solidFill>
                  <a:schemeClr val="lt1"/>
                </a:solidFill>
                <a:latin typeface="Inter"/>
                <a:ea typeface="Inter"/>
                <a:cs typeface="Inter"/>
                <a:sym typeface="Inter"/>
              </a:rPr>
              <a:t>19</a:t>
            </a:r>
            <a:r>
              <a:rPr b="1" i="0" lang="en-US" sz="4000" u="none" cap="none" strike="noStrike">
                <a:solidFill>
                  <a:schemeClr val="lt1"/>
                </a:solidFill>
                <a:latin typeface="Inter"/>
                <a:ea typeface="Inter"/>
                <a:cs typeface="Inter"/>
                <a:sym typeface="Inter"/>
              </a:rPr>
              <a:t>%</a:t>
            </a:r>
            <a:endParaRPr b="0" i="0" sz="9700" u="none" cap="none" strike="noStrike">
              <a:solidFill>
                <a:schemeClr val="lt1"/>
              </a:solidFill>
              <a:latin typeface="Calibri"/>
              <a:ea typeface="Calibri"/>
              <a:cs typeface="Calibri"/>
              <a:sym typeface="Calibri"/>
            </a:endParaRPr>
          </a:p>
        </p:txBody>
      </p:sp>
      <p:sp>
        <p:nvSpPr>
          <p:cNvPr id="318" name="Google Shape;318;p9"/>
          <p:cNvSpPr/>
          <p:nvPr/>
        </p:nvSpPr>
        <p:spPr>
          <a:xfrm>
            <a:off x="8849023" y="4981158"/>
            <a:ext cx="338733"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2400"/>
              <a:buFont typeface="JetBrains Mono"/>
              <a:buNone/>
            </a:pPr>
            <a:r>
              <a:rPr b="0" i="0" lang="en-US" sz="2400" u="none" cap="none" strike="noStrike">
                <a:solidFill>
                  <a:srgbClr val="4F545D"/>
                </a:solidFill>
                <a:latin typeface="JetBrains Mono"/>
                <a:ea typeface="JetBrains Mono"/>
                <a:cs typeface="JetBrains Mono"/>
                <a:sym typeface="JetBrains Mono"/>
              </a:rPr>
              <a:t>▶</a:t>
            </a:r>
            <a:endParaRPr b="0" i="0" sz="2400" u="none" cap="none" strike="noStrike">
              <a:solidFill>
                <a:schemeClr val="dk1"/>
              </a:solidFill>
              <a:latin typeface="Calibri"/>
              <a:ea typeface="Calibri"/>
              <a:cs typeface="Calibri"/>
              <a:sym typeface="Calibri"/>
            </a:endParaRPr>
          </a:p>
        </p:txBody>
      </p:sp>
      <p:sp>
        <p:nvSpPr>
          <p:cNvPr id="319" name="Google Shape;319;p9"/>
          <p:cNvSpPr/>
          <p:nvPr/>
        </p:nvSpPr>
        <p:spPr>
          <a:xfrm>
            <a:off x="9263947" y="4158200"/>
            <a:ext cx="2155500"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E8EAED"/>
              </a:buClr>
              <a:buSzPts val="10500"/>
              <a:buFont typeface="Inter"/>
              <a:buNone/>
            </a:pPr>
            <a:r>
              <a:rPr b="1" i="0" lang="en-US" sz="10500" u="none" cap="none" strike="noStrike">
                <a:solidFill>
                  <a:srgbClr val="E8EAED"/>
                </a:solidFill>
                <a:latin typeface="Inter"/>
                <a:ea typeface="Inter"/>
                <a:cs typeface="Inter"/>
                <a:sym typeface="Inter"/>
              </a:rPr>
              <a:t>0</a:t>
            </a:r>
            <a:r>
              <a:rPr b="1" i="0" lang="en-US" sz="4800" u="none" cap="none" strike="noStrike">
                <a:solidFill>
                  <a:srgbClr val="E8EAED"/>
                </a:solidFill>
                <a:latin typeface="Inter"/>
                <a:ea typeface="Inter"/>
                <a:cs typeface="Inter"/>
                <a:sym typeface="Inter"/>
              </a:rPr>
              <a:t>%</a:t>
            </a:r>
            <a:endParaRPr b="0" i="0" sz="10500" u="none" cap="none" strike="noStrike">
              <a:solidFill>
                <a:schemeClr val="dk1"/>
              </a:solidFill>
              <a:latin typeface="Calibri"/>
              <a:ea typeface="Calibri"/>
              <a:cs typeface="Calibri"/>
              <a:sym typeface="Calibri"/>
            </a:endParaRPr>
          </a:p>
        </p:txBody>
      </p:sp>
      <p:sp>
        <p:nvSpPr>
          <p:cNvPr id="320" name="Google Shape;320;p9"/>
          <p:cNvSpPr/>
          <p:nvPr/>
        </p:nvSpPr>
        <p:spPr>
          <a:xfrm>
            <a:off x="6827520" y="5758399"/>
            <a:ext cx="4771949"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7A808A"/>
              </a:buClr>
              <a:buSzPts val="2100"/>
              <a:buFont typeface="JetBrains Mono"/>
              <a:buNone/>
            </a:pPr>
            <a:r>
              <a:rPr b="0" i="0" lang="en-US" sz="2100" u="none" cap="none" strike="noStrike">
                <a:solidFill>
                  <a:srgbClr val="7A808A"/>
                </a:solidFill>
                <a:latin typeface="JetBrains Mono"/>
                <a:ea typeface="JetBrains Mono"/>
                <a:cs typeface="JetBrains Mono"/>
                <a:sym typeface="JetBrains Mono"/>
              </a:rPr>
              <a:t>confidential tokens escaped</a:t>
            </a:r>
            <a:endParaRPr b="0" i="0" sz="2100" u="none" cap="none" strike="noStrike">
              <a:solidFill>
                <a:schemeClr val="dk1"/>
              </a:solidFill>
              <a:latin typeface="Calibri"/>
              <a:ea typeface="Calibri"/>
              <a:cs typeface="Calibri"/>
              <a:sym typeface="Calibri"/>
            </a:endParaRPr>
          </a:p>
        </p:txBody>
      </p:sp>
      <p:sp>
        <p:nvSpPr>
          <p:cNvPr id="321" name="Google Shape;321;p9"/>
          <p:cNvSpPr/>
          <p:nvPr/>
        </p:nvSpPr>
        <p:spPr>
          <a:xfrm>
            <a:off x="12077700" y="3278088"/>
            <a:ext cx="5257800" cy="3802380"/>
          </a:xfrm>
          <a:prstGeom prst="rect">
            <a:avLst/>
          </a:prstGeom>
          <a:solidFill>
            <a:srgbClr val="78FFB4">
              <a:alpha val="5098"/>
            </a:srgbClr>
          </a:solidFill>
          <a:ln cap="flat" cmpd="sng" w="9525">
            <a:solidFill>
              <a:srgbClr val="5B6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a:off x="12390120" y="3628608"/>
            <a:ext cx="4771949"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BENIGN UTILITY</a:t>
            </a:r>
            <a:endParaRPr b="0" i="0" sz="1800" u="none" cap="none" strike="noStrike">
              <a:solidFill>
                <a:schemeClr val="dk1"/>
              </a:solidFill>
              <a:latin typeface="Calibri"/>
              <a:ea typeface="Calibri"/>
              <a:cs typeface="Calibri"/>
              <a:sym typeface="Calibri"/>
            </a:endParaRPr>
          </a:p>
        </p:txBody>
      </p:sp>
      <p:sp>
        <p:nvSpPr>
          <p:cNvPr id="323" name="Google Shape;323;p9"/>
          <p:cNvSpPr/>
          <p:nvPr/>
        </p:nvSpPr>
        <p:spPr>
          <a:xfrm>
            <a:off x="12390126" y="3956275"/>
            <a:ext cx="4772100" cy="23433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E8EAED"/>
              </a:buClr>
              <a:buSzPts val="15000"/>
              <a:buFont typeface="Inter"/>
              <a:buNone/>
            </a:pPr>
            <a:r>
              <a:rPr b="1" i="0" lang="en-US" sz="15000" u="none" cap="none" strike="noStrike">
                <a:solidFill>
                  <a:srgbClr val="E8EAED"/>
                </a:solidFill>
                <a:latin typeface="Inter"/>
                <a:ea typeface="Inter"/>
                <a:cs typeface="Inter"/>
                <a:sym typeface="Inter"/>
              </a:rPr>
              <a:t>100</a:t>
            </a:r>
            <a:r>
              <a:rPr b="1" i="0" lang="en-US" sz="6000" u="none" cap="none" strike="noStrike">
                <a:solidFill>
                  <a:srgbClr val="E8EAED"/>
                </a:solidFill>
                <a:latin typeface="Inter"/>
                <a:ea typeface="Inter"/>
                <a:cs typeface="Inter"/>
                <a:sym typeface="Inter"/>
              </a:rPr>
              <a:t>%</a:t>
            </a:r>
            <a:endParaRPr b="0" i="0" sz="15000" u="none" cap="none" strike="noStrike">
              <a:solidFill>
                <a:schemeClr val="dk1"/>
              </a:solidFill>
              <a:latin typeface="Calibri"/>
              <a:ea typeface="Calibri"/>
              <a:cs typeface="Calibri"/>
              <a:sym typeface="Calibri"/>
            </a:endParaRPr>
          </a:p>
        </p:txBody>
      </p:sp>
      <p:sp>
        <p:nvSpPr>
          <p:cNvPr id="324" name="Google Shape;324;p9"/>
          <p:cNvSpPr/>
          <p:nvPr/>
        </p:nvSpPr>
        <p:spPr>
          <a:xfrm>
            <a:off x="12390120" y="6329899"/>
            <a:ext cx="4771949"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7A808A"/>
              </a:buClr>
              <a:buSzPts val="2100"/>
              <a:buFont typeface="JetBrains Mono"/>
              <a:buNone/>
            </a:pPr>
            <a:r>
              <a:rPr b="0" i="0" lang="en-US" sz="2100" u="none" cap="none" strike="noStrike">
                <a:solidFill>
                  <a:srgbClr val="7A808A"/>
                </a:solidFill>
                <a:latin typeface="JetBrains Mono"/>
                <a:ea typeface="JetBrains Mono"/>
                <a:cs typeface="JetBrains Mono"/>
                <a:sym typeface="JetBrains Mono"/>
              </a:rPr>
              <a:t>normal work still completes</a:t>
            </a:r>
            <a:endParaRPr b="0" i="0" sz="2100" u="none" cap="none" strike="noStrike">
              <a:solidFill>
                <a:schemeClr val="dk1"/>
              </a:solidFill>
              <a:latin typeface="Calibri"/>
              <a:ea typeface="Calibri"/>
              <a:cs typeface="Calibri"/>
              <a:sym typeface="Calibri"/>
            </a:endParaRPr>
          </a:p>
        </p:txBody>
      </p:sp>
      <p:sp>
        <p:nvSpPr>
          <p:cNvPr id="325" name="Google Shape;325;p9"/>
          <p:cNvSpPr/>
          <p:nvPr/>
        </p:nvSpPr>
        <p:spPr>
          <a:xfrm>
            <a:off x="952500" y="7613868"/>
            <a:ext cx="14716125" cy="495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8EAED"/>
              </a:buClr>
              <a:buSzPts val="2400"/>
              <a:buFont typeface="JetBrains Mono"/>
              <a:buNone/>
            </a:pPr>
            <a:r>
              <a:rPr b="0" i="0" lang="en-US" sz="2400" u="none" cap="none" strike="noStrike">
                <a:solidFill>
                  <a:srgbClr val="E8EAED"/>
                </a:solidFill>
                <a:latin typeface="JetBrains Mono"/>
                <a:ea typeface="JetBrains Mono"/>
                <a:cs typeface="JetBrains Mono"/>
                <a:sym typeface="JetBrains Mono"/>
              </a:rPr>
              <a:t>▍ </a:t>
            </a:r>
            <a:r>
              <a:rPr b="0" i="0" lang="en-US" sz="2400" u="none" cap="none" strike="noStrike">
                <a:solidFill>
                  <a:srgbClr val="E8EAED"/>
                </a:solidFill>
                <a:latin typeface="Inter"/>
                <a:ea typeface="Inter"/>
                <a:cs typeface="Inter"/>
                <a:sym typeface="Inter"/>
              </a:rPr>
              <a:t>Layered defenses closed the attack surface without trading away utility.</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330" name="Shape 330"/>
        <p:cNvGrpSpPr/>
        <p:nvPr/>
      </p:nvGrpSpPr>
      <p:grpSpPr>
        <a:xfrm>
          <a:off x="0" y="0"/>
          <a:ext cx="0" cy="0"/>
          <a:chOff x="0" y="0"/>
          <a:chExt cx="0" cy="0"/>
        </a:xfrm>
      </p:grpSpPr>
      <p:sp>
        <p:nvSpPr>
          <p:cNvPr id="331" name="Google Shape;331;p10"/>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10 / 11</a:t>
            </a:r>
            <a:endParaRPr b="0" i="0" sz="1800" u="none" cap="none" strike="noStrike">
              <a:solidFill>
                <a:schemeClr val="dk1"/>
              </a:solidFill>
              <a:latin typeface="Calibri"/>
              <a:ea typeface="Calibri"/>
              <a:cs typeface="Calibri"/>
              <a:sym typeface="Calibri"/>
            </a:endParaRPr>
          </a:p>
        </p:txBody>
      </p:sp>
      <p:sp>
        <p:nvSpPr>
          <p:cNvPr id="332" name="Google Shape;332;p10"/>
          <p:cNvSpPr/>
          <p:nvPr/>
        </p:nvSpPr>
        <p:spPr>
          <a:xfrm>
            <a:off x="13869546" y="533400"/>
            <a:ext cx="3465954"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RESIDUAL RISK · LESSONS</a:t>
            </a:r>
            <a:endParaRPr b="0" i="0" sz="1800" u="none" cap="none" strike="noStrike">
              <a:solidFill>
                <a:schemeClr val="dk1"/>
              </a:solidFill>
              <a:latin typeface="Calibri"/>
              <a:ea typeface="Calibri"/>
              <a:cs typeface="Calibri"/>
              <a:sym typeface="Calibri"/>
            </a:endParaRPr>
          </a:p>
        </p:txBody>
      </p:sp>
      <p:sp>
        <p:nvSpPr>
          <p:cNvPr id="333" name="Google Shape;333;p10"/>
          <p:cNvSpPr/>
          <p:nvPr/>
        </p:nvSpPr>
        <p:spPr>
          <a:xfrm>
            <a:off x="952500" y="1333500"/>
            <a:ext cx="16874490" cy="1702237"/>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E8EAED"/>
              </a:buClr>
              <a:buSzPts val="6300"/>
              <a:buFont typeface="Inter"/>
              <a:buNone/>
            </a:pPr>
            <a:r>
              <a:rPr b="1" i="0" lang="en-US" sz="6300" u="none" cap="none" strike="noStrike">
                <a:solidFill>
                  <a:srgbClr val="E8EAED"/>
                </a:solidFill>
                <a:latin typeface="Inter"/>
                <a:ea typeface="Inter"/>
                <a:cs typeface="Inter"/>
                <a:sym typeface="Inter"/>
              </a:rPr>
              <a:t>What this prototype still cannot promise.</a:t>
            </a:r>
            <a:endParaRPr b="0" i="0" sz="6300" u="none" cap="none" strike="noStrike">
              <a:solidFill>
                <a:schemeClr val="dk1"/>
              </a:solidFill>
              <a:latin typeface="Calibri"/>
              <a:ea typeface="Calibri"/>
              <a:cs typeface="Calibri"/>
              <a:sym typeface="Calibri"/>
            </a:endParaRPr>
          </a:p>
        </p:txBody>
      </p:sp>
      <p:sp>
        <p:nvSpPr>
          <p:cNvPr id="334" name="Google Shape;334;p10"/>
          <p:cNvSpPr/>
          <p:nvPr/>
        </p:nvSpPr>
        <p:spPr>
          <a:xfrm>
            <a:off x="952500" y="3531037"/>
            <a:ext cx="8142923"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0000"/>
              </a:buClr>
              <a:buSzPts val="1800"/>
              <a:buFont typeface="JetBrains Mono"/>
              <a:buNone/>
            </a:pPr>
            <a:r>
              <a:rPr b="0" i="0" lang="en-US" sz="1800" u="none" cap="none" strike="noStrike">
                <a:solidFill>
                  <a:schemeClr val="lt1"/>
                </a:solidFill>
                <a:latin typeface="JetBrains Mono"/>
                <a:ea typeface="JetBrains Mono"/>
                <a:cs typeface="JetBrains Mono"/>
                <a:sym typeface="JetBrains Mono"/>
              </a:rPr>
              <a:t>// RESIDUAL RISK</a:t>
            </a:r>
            <a:endParaRPr b="0" i="0" sz="1800" u="none" cap="none" strike="noStrike">
              <a:solidFill>
                <a:schemeClr val="lt1"/>
              </a:solidFill>
              <a:latin typeface="Calibri"/>
              <a:ea typeface="Calibri"/>
              <a:cs typeface="Calibri"/>
              <a:sym typeface="Calibri"/>
            </a:endParaRPr>
          </a:p>
        </p:txBody>
      </p:sp>
      <p:sp>
        <p:nvSpPr>
          <p:cNvPr id="335" name="Google Shape;335;p10"/>
          <p:cNvSpPr/>
          <p:nvPr/>
        </p:nvSpPr>
        <p:spPr>
          <a:xfrm>
            <a:off x="952500" y="4803577"/>
            <a:ext cx="790575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36" name="Google Shape;336;p10"/>
          <p:cNvSpPr/>
          <p:nvPr/>
        </p:nvSpPr>
        <p:spPr>
          <a:xfrm>
            <a:off x="952500" y="4232077"/>
            <a:ext cx="647700"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00000"/>
              </a:buClr>
              <a:buSzPts val="2100"/>
              <a:buFont typeface="JetBrains Mono"/>
              <a:buNone/>
            </a:pPr>
            <a:r>
              <a:rPr b="0" i="0" lang="en-US" sz="2100" u="none" cap="none" strike="noStrike">
                <a:solidFill>
                  <a:schemeClr val="lt1"/>
                </a:solidFill>
                <a:latin typeface="JetBrains Mono"/>
                <a:ea typeface="JetBrains Mono"/>
                <a:cs typeface="JetBrains Mono"/>
                <a:sym typeface="JetBrains Mono"/>
              </a:rPr>
              <a:t>R1</a:t>
            </a:r>
            <a:endParaRPr b="0" i="0" sz="2100" u="none" cap="none" strike="noStrike">
              <a:solidFill>
                <a:schemeClr val="lt1"/>
              </a:solidFill>
              <a:latin typeface="Calibri"/>
              <a:ea typeface="Calibri"/>
              <a:cs typeface="Calibri"/>
              <a:sym typeface="Calibri"/>
            </a:endParaRPr>
          </a:p>
        </p:txBody>
      </p:sp>
      <p:sp>
        <p:nvSpPr>
          <p:cNvPr id="337" name="Google Shape;337;p10"/>
          <p:cNvSpPr/>
          <p:nvPr/>
        </p:nvSpPr>
        <p:spPr>
          <a:xfrm>
            <a:off x="1676400" y="4232077"/>
            <a:ext cx="7397306"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chemeClr val="lt1"/>
                </a:solidFill>
                <a:latin typeface="Inter"/>
                <a:ea typeface="Inter"/>
                <a:cs typeface="Inter"/>
                <a:sym typeface="Inter"/>
              </a:rPr>
              <a:t>Rule-based validation can miss novel phrasing.</a:t>
            </a:r>
            <a:endParaRPr b="0" i="0" sz="2100" u="none" cap="none" strike="noStrike">
              <a:solidFill>
                <a:schemeClr val="lt1"/>
              </a:solidFill>
              <a:latin typeface="Calibri"/>
              <a:ea typeface="Calibri"/>
              <a:cs typeface="Calibri"/>
              <a:sym typeface="Calibri"/>
            </a:endParaRPr>
          </a:p>
        </p:txBody>
      </p:sp>
      <p:sp>
        <p:nvSpPr>
          <p:cNvPr id="338" name="Google Shape;338;p10"/>
          <p:cNvSpPr/>
          <p:nvPr/>
        </p:nvSpPr>
        <p:spPr>
          <a:xfrm>
            <a:off x="952500" y="5954197"/>
            <a:ext cx="790575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39" name="Google Shape;339;p10"/>
          <p:cNvSpPr/>
          <p:nvPr/>
        </p:nvSpPr>
        <p:spPr>
          <a:xfrm>
            <a:off x="952500" y="4982646"/>
            <a:ext cx="6477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00000"/>
              </a:buClr>
              <a:buSzPts val="2100"/>
              <a:buFont typeface="JetBrains Mono"/>
              <a:buNone/>
            </a:pPr>
            <a:r>
              <a:rPr b="0" i="0" lang="en-US" sz="2100" u="none" cap="none" strike="noStrike">
                <a:solidFill>
                  <a:schemeClr val="lt1"/>
                </a:solidFill>
                <a:latin typeface="JetBrains Mono"/>
                <a:ea typeface="JetBrains Mono"/>
                <a:cs typeface="JetBrains Mono"/>
                <a:sym typeface="JetBrains Mono"/>
              </a:rPr>
              <a:t>R2</a:t>
            </a:r>
            <a:endParaRPr b="0" i="0" sz="2100" u="none" cap="none" strike="noStrike">
              <a:solidFill>
                <a:schemeClr val="lt1"/>
              </a:solidFill>
              <a:latin typeface="Calibri"/>
              <a:ea typeface="Calibri"/>
              <a:cs typeface="Calibri"/>
              <a:sym typeface="Calibri"/>
            </a:endParaRPr>
          </a:p>
        </p:txBody>
      </p:sp>
      <p:sp>
        <p:nvSpPr>
          <p:cNvPr id="340" name="Google Shape;340;p10"/>
          <p:cNvSpPr/>
          <p:nvPr/>
        </p:nvSpPr>
        <p:spPr>
          <a:xfrm>
            <a:off x="1676400" y="4982646"/>
            <a:ext cx="7397306"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chemeClr val="lt1"/>
                </a:solidFill>
                <a:latin typeface="Inter"/>
                <a:ea typeface="Inter"/>
                <a:cs typeface="Inter"/>
                <a:sym typeface="Inter"/>
              </a:rPr>
              <a:t>Source labels rely on synthetic metadata provenance unsolved in real deployments.</a:t>
            </a:r>
            <a:endParaRPr b="0" i="0" sz="2100" u="none" cap="none" strike="noStrike">
              <a:solidFill>
                <a:schemeClr val="lt1"/>
              </a:solidFill>
              <a:latin typeface="Calibri"/>
              <a:ea typeface="Calibri"/>
              <a:cs typeface="Calibri"/>
              <a:sym typeface="Calibri"/>
            </a:endParaRPr>
          </a:p>
        </p:txBody>
      </p:sp>
      <p:sp>
        <p:nvSpPr>
          <p:cNvPr id="341" name="Google Shape;341;p10"/>
          <p:cNvSpPr/>
          <p:nvPr/>
        </p:nvSpPr>
        <p:spPr>
          <a:xfrm>
            <a:off x="952500" y="7104817"/>
            <a:ext cx="790575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42" name="Google Shape;342;p10"/>
          <p:cNvSpPr/>
          <p:nvPr/>
        </p:nvSpPr>
        <p:spPr>
          <a:xfrm>
            <a:off x="952500" y="6133267"/>
            <a:ext cx="6477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00000"/>
              </a:buClr>
              <a:buSzPts val="2100"/>
              <a:buFont typeface="JetBrains Mono"/>
              <a:buNone/>
            </a:pPr>
            <a:r>
              <a:rPr b="0" i="0" lang="en-US" sz="2100" u="none" cap="none" strike="noStrike">
                <a:solidFill>
                  <a:schemeClr val="lt1"/>
                </a:solidFill>
                <a:latin typeface="JetBrains Mono"/>
                <a:ea typeface="JetBrains Mono"/>
                <a:cs typeface="JetBrains Mono"/>
                <a:sym typeface="JetBrains Mono"/>
              </a:rPr>
              <a:t>R3</a:t>
            </a:r>
            <a:endParaRPr b="0" i="0" sz="2100" u="none" cap="none" strike="noStrike">
              <a:solidFill>
                <a:schemeClr val="lt1"/>
              </a:solidFill>
              <a:latin typeface="Calibri"/>
              <a:ea typeface="Calibri"/>
              <a:cs typeface="Calibri"/>
              <a:sym typeface="Calibri"/>
            </a:endParaRPr>
          </a:p>
        </p:txBody>
      </p:sp>
      <p:sp>
        <p:nvSpPr>
          <p:cNvPr id="343" name="Google Shape;343;p10"/>
          <p:cNvSpPr/>
          <p:nvPr/>
        </p:nvSpPr>
        <p:spPr>
          <a:xfrm>
            <a:off x="1676400" y="6133267"/>
            <a:ext cx="7397306"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chemeClr val="lt1"/>
                </a:solidFill>
                <a:latin typeface="Inter"/>
                <a:ea typeface="Inter"/>
                <a:cs typeface="Inter"/>
                <a:sym typeface="Inter"/>
              </a:rPr>
              <a:t>External-model backend may behave differently than the deterministic mock.</a:t>
            </a:r>
            <a:endParaRPr b="0" i="0" sz="2100" u="none" cap="none" strike="noStrike">
              <a:solidFill>
                <a:schemeClr val="lt1"/>
              </a:solidFill>
              <a:latin typeface="Calibri"/>
              <a:ea typeface="Calibri"/>
              <a:cs typeface="Calibri"/>
              <a:sym typeface="Calibri"/>
            </a:endParaRPr>
          </a:p>
        </p:txBody>
      </p:sp>
      <p:sp>
        <p:nvSpPr>
          <p:cNvPr id="344" name="Google Shape;344;p10"/>
          <p:cNvSpPr/>
          <p:nvPr/>
        </p:nvSpPr>
        <p:spPr>
          <a:xfrm>
            <a:off x="952500" y="8255437"/>
            <a:ext cx="790575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45" name="Google Shape;345;p10"/>
          <p:cNvSpPr/>
          <p:nvPr/>
        </p:nvSpPr>
        <p:spPr>
          <a:xfrm>
            <a:off x="952500" y="7283887"/>
            <a:ext cx="6477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00000"/>
              </a:buClr>
              <a:buSzPts val="2100"/>
              <a:buFont typeface="JetBrains Mono"/>
              <a:buNone/>
            </a:pPr>
            <a:r>
              <a:rPr b="0" i="0" lang="en-US" sz="2100" u="none" cap="none" strike="noStrike">
                <a:solidFill>
                  <a:schemeClr val="lt1"/>
                </a:solidFill>
                <a:latin typeface="JetBrains Mono"/>
                <a:ea typeface="JetBrains Mono"/>
                <a:cs typeface="JetBrains Mono"/>
                <a:sym typeface="JetBrains Mono"/>
              </a:rPr>
              <a:t>R4</a:t>
            </a:r>
            <a:endParaRPr b="0" i="0" sz="2100" u="none" cap="none" strike="noStrike">
              <a:solidFill>
                <a:schemeClr val="lt1"/>
              </a:solidFill>
              <a:latin typeface="Calibri"/>
              <a:ea typeface="Calibri"/>
              <a:cs typeface="Calibri"/>
              <a:sym typeface="Calibri"/>
            </a:endParaRPr>
          </a:p>
        </p:txBody>
      </p:sp>
      <p:sp>
        <p:nvSpPr>
          <p:cNvPr id="346" name="Google Shape;346;p10"/>
          <p:cNvSpPr/>
          <p:nvPr/>
        </p:nvSpPr>
        <p:spPr>
          <a:xfrm>
            <a:off x="1676400" y="7283887"/>
            <a:ext cx="7397306"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chemeClr val="lt1"/>
                </a:solidFill>
                <a:latin typeface="Inter"/>
                <a:ea typeface="Inter"/>
                <a:cs typeface="Inter"/>
                <a:sym typeface="Inter"/>
              </a:rPr>
              <a:t>Approval gate is simulated review latency and analyst quality not measured.</a:t>
            </a:r>
            <a:endParaRPr b="0" i="0" sz="2100" u="none" cap="none" strike="noStrike">
              <a:solidFill>
                <a:schemeClr val="lt1"/>
              </a:solidFill>
              <a:latin typeface="Calibri"/>
              <a:ea typeface="Calibri"/>
              <a:cs typeface="Calibri"/>
              <a:sym typeface="Calibri"/>
            </a:endParaRPr>
          </a:p>
        </p:txBody>
      </p:sp>
      <p:sp>
        <p:nvSpPr>
          <p:cNvPr id="347" name="Google Shape;347;p10"/>
          <p:cNvSpPr/>
          <p:nvPr/>
        </p:nvSpPr>
        <p:spPr>
          <a:xfrm>
            <a:off x="952500" y="9406057"/>
            <a:ext cx="790575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48" name="Google Shape;348;p10"/>
          <p:cNvSpPr/>
          <p:nvPr/>
        </p:nvSpPr>
        <p:spPr>
          <a:xfrm>
            <a:off x="952500" y="8434507"/>
            <a:ext cx="6477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00000"/>
              </a:buClr>
              <a:buSzPts val="2100"/>
              <a:buFont typeface="JetBrains Mono"/>
              <a:buNone/>
            </a:pPr>
            <a:r>
              <a:rPr b="0" i="0" lang="en-US" sz="2100" u="none" cap="none" strike="noStrike">
                <a:solidFill>
                  <a:schemeClr val="lt1"/>
                </a:solidFill>
                <a:latin typeface="JetBrains Mono"/>
                <a:ea typeface="JetBrains Mono"/>
                <a:cs typeface="JetBrains Mono"/>
                <a:sym typeface="JetBrains Mono"/>
              </a:rPr>
              <a:t>R5</a:t>
            </a:r>
            <a:endParaRPr b="0" i="0" sz="2100" u="none" cap="none" strike="noStrike">
              <a:solidFill>
                <a:schemeClr val="lt1"/>
              </a:solidFill>
              <a:latin typeface="Calibri"/>
              <a:ea typeface="Calibri"/>
              <a:cs typeface="Calibri"/>
              <a:sym typeface="Calibri"/>
            </a:endParaRPr>
          </a:p>
        </p:txBody>
      </p:sp>
      <p:sp>
        <p:nvSpPr>
          <p:cNvPr id="349" name="Google Shape;349;p10"/>
          <p:cNvSpPr/>
          <p:nvPr/>
        </p:nvSpPr>
        <p:spPr>
          <a:xfrm>
            <a:off x="1676400" y="8434507"/>
            <a:ext cx="7397306"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chemeClr val="lt1"/>
                </a:solidFill>
                <a:latin typeface="Inter"/>
                <a:ea typeface="Inter"/>
                <a:cs typeface="Inter"/>
                <a:sym typeface="Inter"/>
              </a:rPr>
              <a:t>Retrieval is intentionally simple; real enterprise search has more failure modes.</a:t>
            </a:r>
            <a:endParaRPr b="0" i="0" sz="2100" u="none" cap="none" strike="noStrike">
              <a:solidFill>
                <a:schemeClr val="lt1"/>
              </a:solidFill>
              <a:latin typeface="Calibri"/>
              <a:ea typeface="Calibri"/>
              <a:cs typeface="Calibri"/>
              <a:sym typeface="Calibri"/>
            </a:endParaRPr>
          </a:p>
        </p:txBody>
      </p:sp>
      <p:sp>
        <p:nvSpPr>
          <p:cNvPr id="350" name="Google Shape;350;p10"/>
          <p:cNvSpPr/>
          <p:nvPr/>
        </p:nvSpPr>
        <p:spPr>
          <a:xfrm>
            <a:off x="9429750" y="3531037"/>
            <a:ext cx="8142923"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chemeClr val="lt1"/>
                </a:solidFill>
                <a:latin typeface="JetBrains Mono"/>
                <a:ea typeface="JetBrains Mono"/>
                <a:cs typeface="JetBrains Mono"/>
                <a:sym typeface="JetBrains Mono"/>
              </a:rPr>
              <a:t>// LESSONS LEARNED</a:t>
            </a:r>
            <a:endParaRPr b="0" i="0" sz="1800" u="none" cap="none" strike="noStrike">
              <a:solidFill>
                <a:schemeClr val="lt1"/>
              </a:solidFill>
              <a:latin typeface="Calibri"/>
              <a:ea typeface="Calibri"/>
              <a:cs typeface="Calibri"/>
              <a:sym typeface="Calibri"/>
            </a:endParaRPr>
          </a:p>
        </p:txBody>
      </p:sp>
      <p:sp>
        <p:nvSpPr>
          <p:cNvPr id="351" name="Google Shape;351;p10"/>
          <p:cNvSpPr/>
          <p:nvPr/>
        </p:nvSpPr>
        <p:spPr>
          <a:xfrm>
            <a:off x="9429750" y="5203627"/>
            <a:ext cx="790575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52" name="Google Shape;352;p10"/>
          <p:cNvSpPr/>
          <p:nvPr/>
        </p:nvSpPr>
        <p:spPr>
          <a:xfrm>
            <a:off x="9429750" y="4232077"/>
            <a:ext cx="6477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8EAED"/>
              </a:buClr>
              <a:buSzPts val="2100"/>
              <a:buFont typeface="JetBrains Mono"/>
              <a:buNone/>
            </a:pPr>
            <a:r>
              <a:rPr b="0" i="0" lang="en-US" sz="2100" u="none" cap="none" strike="noStrike">
                <a:solidFill>
                  <a:schemeClr val="lt1"/>
                </a:solidFill>
                <a:latin typeface="JetBrains Mono"/>
                <a:ea typeface="JetBrains Mono"/>
                <a:cs typeface="JetBrains Mono"/>
                <a:sym typeface="JetBrains Mono"/>
              </a:rPr>
              <a:t>L1</a:t>
            </a:r>
            <a:endParaRPr b="0" i="0" sz="2100" u="none" cap="none" strike="noStrike">
              <a:solidFill>
                <a:schemeClr val="lt1"/>
              </a:solidFill>
              <a:latin typeface="Calibri"/>
              <a:ea typeface="Calibri"/>
              <a:cs typeface="Calibri"/>
              <a:sym typeface="Calibri"/>
            </a:endParaRPr>
          </a:p>
        </p:txBody>
      </p:sp>
      <p:sp>
        <p:nvSpPr>
          <p:cNvPr id="353" name="Google Shape;353;p10"/>
          <p:cNvSpPr/>
          <p:nvPr/>
        </p:nvSpPr>
        <p:spPr>
          <a:xfrm>
            <a:off x="10153650" y="4232077"/>
            <a:ext cx="7397306"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chemeClr val="lt1"/>
                </a:solidFill>
                <a:latin typeface="Inter"/>
                <a:ea typeface="Inter"/>
                <a:cs typeface="Inter"/>
                <a:sym typeface="Inter"/>
              </a:rPr>
              <a:t>Defense in depth beats clever single mitigations each layer catches a different class of failure.</a:t>
            </a:r>
            <a:endParaRPr b="0" i="0" sz="2100" u="none" cap="none" strike="noStrike">
              <a:solidFill>
                <a:schemeClr val="lt1"/>
              </a:solidFill>
              <a:latin typeface="Calibri"/>
              <a:ea typeface="Calibri"/>
              <a:cs typeface="Calibri"/>
              <a:sym typeface="Calibri"/>
            </a:endParaRPr>
          </a:p>
        </p:txBody>
      </p:sp>
      <p:sp>
        <p:nvSpPr>
          <p:cNvPr id="354" name="Google Shape;354;p10"/>
          <p:cNvSpPr/>
          <p:nvPr/>
        </p:nvSpPr>
        <p:spPr>
          <a:xfrm>
            <a:off x="9429750" y="6354246"/>
            <a:ext cx="790575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55" name="Google Shape;355;p10"/>
          <p:cNvSpPr/>
          <p:nvPr/>
        </p:nvSpPr>
        <p:spPr>
          <a:xfrm>
            <a:off x="9429750" y="5382696"/>
            <a:ext cx="6477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8EAED"/>
              </a:buClr>
              <a:buSzPts val="2100"/>
              <a:buFont typeface="JetBrains Mono"/>
              <a:buNone/>
            </a:pPr>
            <a:r>
              <a:rPr b="0" i="0" lang="en-US" sz="2100" u="none" cap="none" strike="noStrike">
                <a:solidFill>
                  <a:schemeClr val="lt1"/>
                </a:solidFill>
                <a:latin typeface="JetBrains Mono"/>
                <a:ea typeface="JetBrains Mono"/>
                <a:cs typeface="JetBrains Mono"/>
                <a:sym typeface="JetBrains Mono"/>
              </a:rPr>
              <a:t>L2</a:t>
            </a:r>
            <a:endParaRPr b="0" i="0" sz="2100" u="none" cap="none" strike="noStrike">
              <a:solidFill>
                <a:schemeClr val="lt1"/>
              </a:solidFill>
              <a:latin typeface="Calibri"/>
              <a:ea typeface="Calibri"/>
              <a:cs typeface="Calibri"/>
              <a:sym typeface="Calibri"/>
            </a:endParaRPr>
          </a:p>
        </p:txBody>
      </p:sp>
      <p:sp>
        <p:nvSpPr>
          <p:cNvPr id="356" name="Google Shape;356;p10"/>
          <p:cNvSpPr/>
          <p:nvPr/>
        </p:nvSpPr>
        <p:spPr>
          <a:xfrm>
            <a:off x="10153650" y="5382696"/>
            <a:ext cx="7397306"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chemeClr val="lt1"/>
                </a:solidFill>
                <a:latin typeface="Inter"/>
                <a:ea typeface="Inter"/>
                <a:cs typeface="Inter"/>
                <a:sym typeface="Inter"/>
              </a:rPr>
              <a:t>Cleanly separating user intent from retrieved data is the most leveraged single control.</a:t>
            </a:r>
            <a:endParaRPr b="0" i="0" sz="2100" u="none" cap="none" strike="noStrike">
              <a:solidFill>
                <a:schemeClr val="lt1"/>
              </a:solidFill>
              <a:latin typeface="Calibri"/>
              <a:ea typeface="Calibri"/>
              <a:cs typeface="Calibri"/>
              <a:sym typeface="Calibri"/>
            </a:endParaRPr>
          </a:p>
        </p:txBody>
      </p:sp>
      <p:sp>
        <p:nvSpPr>
          <p:cNvPr id="357" name="Google Shape;357;p10"/>
          <p:cNvSpPr/>
          <p:nvPr/>
        </p:nvSpPr>
        <p:spPr>
          <a:xfrm>
            <a:off x="9429750" y="7504867"/>
            <a:ext cx="790575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58" name="Google Shape;358;p10"/>
          <p:cNvSpPr/>
          <p:nvPr/>
        </p:nvSpPr>
        <p:spPr>
          <a:xfrm>
            <a:off x="9429750" y="6533317"/>
            <a:ext cx="6477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8EAED"/>
              </a:buClr>
              <a:buSzPts val="2100"/>
              <a:buFont typeface="JetBrains Mono"/>
              <a:buNone/>
            </a:pPr>
            <a:r>
              <a:rPr b="0" i="0" lang="en-US" sz="2100" u="none" cap="none" strike="noStrike">
                <a:solidFill>
                  <a:schemeClr val="lt1"/>
                </a:solidFill>
                <a:latin typeface="JetBrains Mono"/>
                <a:ea typeface="JetBrains Mono"/>
                <a:cs typeface="JetBrains Mono"/>
                <a:sym typeface="JetBrains Mono"/>
              </a:rPr>
              <a:t>L3</a:t>
            </a:r>
            <a:endParaRPr b="0" i="0" sz="2100" u="none" cap="none" strike="noStrike">
              <a:solidFill>
                <a:schemeClr val="lt1"/>
              </a:solidFill>
              <a:latin typeface="Calibri"/>
              <a:ea typeface="Calibri"/>
              <a:cs typeface="Calibri"/>
              <a:sym typeface="Calibri"/>
            </a:endParaRPr>
          </a:p>
        </p:txBody>
      </p:sp>
      <p:sp>
        <p:nvSpPr>
          <p:cNvPr id="359" name="Google Shape;359;p10"/>
          <p:cNvSpPr/>
          <p:nvPr/>
        </p:nvSpPr>
        <p:spPr>
          <a:xfrm>
            <a:off x="10153650" y="6533317"/>
            <a:ext cx="7397306"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chemeClr val="lt1"/>
                </a:solidFill>
                <a:latin typeface="Inter"/>
                <a:ea typeface="Inter"/>
                <a:cs typeface="Inter"/>
                <a:sym typeface="Inter"/>
              </a:rPr>
              <a:t>Output validation buys time</a:t>
            </a:r>
            <a:r>
              <a:rPr lang="en-US" sz="2100">
                <a:solidFill>
                  <a:schemeClr val="lt1"/>
                </a:solidFill>
                <a:latin typeface="Inter"/>
                <a:ea typeface="Inter"/>
                <a:cs typeface="Inter"/>
                <a:sym typeface="Inter"/>
              </a:rPr>
              <a:t> </a:t>
            </a:r>
            <a:r>
              <a:rPr b="0" i="0" lang="en-US" sz="2100" u="none" cap="none" strike="noStrike">
                <a:solidFill>
                  <a:schemeClr val="lt1"/>
                </a:solidFill>
                <a:latin typeface="Inter"/>
                <a:ea typeface="Inter"/>
                <a:cs typeface="Inter"/>
                <a:sym typeface="Inter"/>
              </a:rPr>
              <a:t>pair it with policy-level refusal.</a:t>
            </a:r>
            <a:endParaRPr b="0" i="0" sz="2100" u="none" cap="none" strike="noStrike">
              <a:solidFill>
                <a:schemeClr val="lt1"/>
              </a:solidFill>
              <a:latin typeface="Calibri"/>
              <a:ea typeface="Calibri"/>
              <a:cs typeface="Calibri"/>
              <a:sym typeface="Calibri"/>
            </a:endParaRPr>
          </a:p>
        </p:txBody>
      </p:sp>
      <p:sp>
        <p:nvSpPr>
          <p:cNvPr id="360" name="Google Shape;360;p10"/>
          <p:cNvSpPr/>
          <p:nvPr/>
        </p:nvSpPr>
        <p:spPr>
          <a:xfrm>
            <a:off x="9429750" y="8655487"/>
            <a:ext cx="7905750" cy="9525"/>
          </a:xfrm>
          <a:prstGeom prst="rect">
            <a:avLst/>
          </a:prstGeom>
          <a:solidFill>
            <a:srgbClr val="232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61" name="Google Shape;361;p10"/>
          <p:cNvSpPr/>
          <p:nvPr/>
        </p:nvSpPr>
        <p:spPr>
          <a:xfrm>
            <a:off x="9429750" y="7683937"/>
            <a:ext cx="6477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8EAED"/>
              </a:buClr>
              <a:buSzPts val="2100"/>
              <a:buFont typeface="JetBrains Mono"/>
              <a:buNone/>
            </a:pPr>
            <a:r>
              <a:rPr b="0" i="0" lang="en-US" sz="2100" u="none" cap="none" strike="noStrike">
                <a:solidFill>
                  <a:schemeClr val="lt1"/>
                </a:solidFill>
                <a:latin typeface="JetBrains Mono"/>
                <a:ea typeface="JetBrains Mono"/>
                <a:cs typeface="JetBrains Mono"/>
                <a:sym typeface="JetBrains Mono"/>
              </a:rPr>
              <a:t>L4</a:t>
            </a:r>
            <a:endParaRPr b="0" i="0" sz="2100" u="none" cap="none" strike="noStrike">
              <a:solidFill>
                <a:schemeClr val="lt1"/>
              </a:solidFill>
              <a:latin typeface="Calibri"/>
              <a:ea typeface="Calibri"/>
              <a:cs typeface="Calibri"/>
              <a:sym typeface="Calibri"/>
            </a:endParaRPr>
          </a:p>
        </p:txBody>
      </p:sp>
      <p:sp>
        <p:nvSpPr>
          <p:cNvPr id="362" name="Google Shape;362;p10"/>
          <p:cNvSpPr/>
          <p:nvPr/>
        </p:nvSpPr>
        <p:spPr>
          <a:xfrm>
            <a:off x="10153650" y="7683937"/>
            <a:ext cx="7397306"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B8BCC4"/>
              </a:buClr>
              <a:buSzPts val="2100"/>
              <a:buFont typeface="Inter"/>
              <a:buNone/>
            </a:pPr>
            <a:r>
              <a:rPr b="0" i="0" lang="en-US" sz="2100" u="none" cap="none" strike="noStrike">
                <a:solidFill>
                  <a:schemeClr val="lt1"/>
                </a:solidFill>
                <a:latin typeface="Inter"/>
                <a:ea typeface="Inter"/>
                <a:cs typeface="Inter"/>
                <a:sym typeface="Inter"/>
              </a:rPr>
              <a:t>A measurable before/after persuades more than any single demo.</a:t>
            </a:r>
            <a:endParaRPr b="0" i="0" sz="2100" u="none" cap="none" strike="noStrike">
              <a:solidFill>
                <a:schemeClr val="lt1"/>
              </a:solidFill>
              <a:latin typeface="Calibri"/>
              <a:ea typeface="Calibri"/>
              <a:cs typeface="Calibri"/>
              <a:sym typeface="Calibri"/>
            </a:endParaRPr>
          </a:p>
        </p:txBody>
      </p:sp>
      <p:sp>
        <p:nvSpPr>
          <p:cNvPr id="363" name="Google Shape;363;p10"/>
          <p:cNvSpPr/>
          <p:nvPr/>
        </p:nvSpPr>
        <p:spPr>
          <a:xfrm>
            <a:off x="14321577" y="9452610"/>
            <a:ext cx="3013924"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honesty </a:t>
            </a:r>
            <a:r>
              <a:rPr b="0" i="0" lang="en-US" sz="1800" u="none" cap="none" strike="noStrike">
                <a:solidFill>
                  <a:srgbClr val="7A808A"/>
                </a:solidFill>
                <a:latin typeface="JetBrains Mono"/>
                <a:ea typeface="JetBrains Mono"/>
                <a:cs typeface="JetBrains Mono"/>
                <a:sym typeface="JetBrains Mono"/>
              </a:rPr>
              <a:t>· </a:t>
            </a:r>
            <a:r>
              <a:rPr b="0" i="0" lang="en-US" sz="1800" u="none" cap="none" strike="noStrike">
                <a:solidFill>
                  <a:srgbClr val="E8EAED"/>
                </a:solidFill>
                <a:latin typeface="JetBrains Mono"/>
                <a:ea typeface="JetBrains Mono"/>
                <a:cs typeface="JetBrains Mono"/>
                <a:sym typeface="JetBrains Mono"/>
              </a:rPr>
              <a:t>required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B0D"/>
        </a:solidFill>
      </p:bgPr>
    </p:bg>
    <p:spTree>
      <p:nvGrpSpPr>
        <p:cNvPr id="368" name="Shape 368"/>
        <p:cNvGrpSpPr/>
        <p:nvPr/>
      </p:nvGrpSpPr>
      <p:grpSpPr>
        <a:xfrm>
          <a:off x="0" y="0"/>
          <a:ext cx="0" cy="0"/>
          <a:chOff x="0" y="0"/>
          <a:chExt cx="0" cy="0"/>
        </a:xfrm>
      </p:grpSpPr>
      <p:sp>
        <p:nvSpPr>
          <p:cNvPr id="369" name="Google Shape;369;p11"/>
          <p:cNvSpPr/>
          <p:nvPr/>
        </p:nvSpPr>
        <p:spPr>
          <a:xfrm>
            <a:off x="0" y="0"/>
            <a:ext cx="18288000" cy="10287000"/>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a:off x="952500" y="533400"/>
            <a:ext cx="153930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 </a:t>
            </a:r>
            <a:r>
              <a:rPr b="0" i="0" lang="en-US" sz="1800" u="none" cap="none" strike="noStrike">
                <a:solidFill>
                  <a:srgbClr val="7A808A"/>
                </a:solidFill>
                <a:latin typeface="JetBrains Mono"/>
                <a:ea typeface="JetBrains Mono"/>
                <a:cs typeface="JetBrains Mono"/>
                <a:sym typeface="JetBrains Mono"/>
              </a:rPr>
              <a:t>11 / 11</a:t>
            </a:r>
            <a:endParaRPr b="0" i="0" sz="1800" u="none" cap="none" strike="noStrike">
              <a:solidFill>
                <a:schemeClr val="dk1"/>
              </a:solidFill>
              <a:latin typeface="Calibri"/>
              <a:ea typeface="Calibri"/>
              <a:cs typeface="Calibri"/>
              <a:sym typeface="Calibri"/>
            </a:endParaRPr>
          </a:p>
        </p:txBody>
      </p:sp>
      <p:sp>
        <p:nvSpPr>
          <p:cNvPr id="371" name="Google Shape;371;p11"/>
          <p:cNvSpPr/>
          <p:nvPr/>
        </p:nvSpPr>
        <p:spPr>
          <a:xfrm>
            <a:off x="952500" y="2129790"/>
            <a:ext cx="16874490" cy="1592580"/>
          </a:xfrm>
          <a:prstGeom prst="rect">
            <a:avLst/>
          </a:prstGeom>
          <a:noFill/>
          <a:ln>
            <a:noFill/>
          </a:ln>
        </p:spPr>
        <p:txBody>
          <a:bodyPr anchorCtr="0" anchor="t" bIns="25400" lIns="25400" spcFirstLastPara="1" rIns="25400" wrap="square" tIns="25400">
            <a:normAutofit/>
          </a:bodyPr>
          <a:lstStyle/>
          <a:p>
            <a:pPr indent="0" lvl="0" marL="0" marR="0" rtl="0" algn="l">
              <a:lnSpc>
                <a:spcPct val="102000"/>
              </a:lnSpc>
              <a:spcBef>
                <a:spcPts val="0"/>
              </a:spcBef>
              <a:spcAft>
                <a:spcPts val="0"/>
              </a:spcAft>
              <a:buClr>
                <a:srgbClr val="E8EAED"/>
              </a:buClr>
              <a:buSzPts val="12000"/>
              <a:buFont typeface="Inter"/>
              <a:buNone/>
            </a:pPr>
            <a:r>
              <a:rPr b="1" i="0" lang="en-US" sz="12000" u="none" cap="none" strike="noStrike">
                <a:solidFill>
                  <a:srgbClr val="E8EAED"/>
                </a:solidFill>
                <a:latin typeface="Inter"/>
                <a:ea typeface="Inter"/>
                <a:cs typeface="Inter"/>
                <a:sym typeface="Inter"/>
              </a:rPr>
              <a:t>Thank you._</a:t>
            </a:r>
            <a:endParaRPr b="0" i="0" sz="12000" u="none" cap="none" strike="noStrike">
              <a:solidFill>
                <a:schemeClr val="dk1"/>
              </a:solidFill>
              <a:latin typeface="Calibri"/>
              <a:ea typeface="Calibri"/>
              <a:cs typeface="Calibri"/>
              <a:sym typeface="Calibri"/>
            </a:endParaRPr>
          </a:p>
        </p:txBody>
      </p:sp>
      <p:sp>
        <p:nvSpPr>
          <p:cNvPr id="372" name="Google Shape;372;p11"/>
          <p:cNvSpPr/>
          <p:nvPr/>
        </p:nvSpPr>
        <p:spPr>
          <a:xfrm>
            <a:off x="952500" y="5154930"/>
            <a:ext cx="7063740"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 REFERENCES</a:t>
            </a:r>
            <a:endParaRPr b="0" i="0" sz="1800" u="none" cap="none" strike="noStrike">
              <a:solidFill>
                <a:schemeClr val="dk1"/>
              </a:solidFill>
              <a:latin typeface="Calibri"/>
              <a:ea typeface="Calibri"/>
              <a:cs typeface="Calibri"/>
              <a:sym typeface="Calibri"/>
            </a:endParaRPr>
          </a:p>
        </p:txBody>
      </p:sp>
      <p:sp>
        <p:nvSpPr>
          <p:cNvPr id="373" name="Google Shape;373;p11"/>
          <p:cNvSpPr/>
          <p:nvPr/>
        </p:nvSpPr>
        <p:spPr>
          <a:xfrm>
            <a:off x="952500" y="5627370"/>
            <a:ext cx="7063740" cy="3211830"/>
          </a:xfrm>
          <a:prstGeom prst="rect">
            <a:avLst/>
          </a:prstGeom>
          <a:noFill/>
          <a:ln>
            <a:noFill/>
          </a:ln>
        </p:spPr>
        <p:txBody>
          <a:bodyPr anchorCtr="0" anchor="t" bIns="25400" lIns="25400" spcFirstLastPara="1" rIns="25400" wrap="square" tIns="25400">
            <a:normAutofit/>
          </a:bodyPr>
          <a:lstStyle/>
          <a:p>
            <a:pPr indent="0" lvl="0" marL="0" marR="0" rtl="0" algn="l">
              <a:lnSpc>
                <a:spcPct val="170000"/>
              </a:lnSpc>
              <a:spcBef>
                <a:spcPts val="0"/>
              </a:spcBef>
              <a:spcAft>
                <a:spcPts val="0"/>
              </a:spcAft>
              <a:buClr>
                <a:srgbClr val="B8BCC4"/>
              </a:buClr>
              <a:buSzPts val="2100"/>
              <a:buFont typeface="JetBrains Mono"/>
              <a:buNone/>
            </a:pPr>
            <a:r>
              <a:rPr b="0" i="0" lang="en-US" sz="2100" u="none" cap="none" strike="noStrike">
                <a:solidFill>
                  <a:srgbClr val="B8BCC4"/>
                </a:solidFill>
                <a:latin typeface="JetBrains Mono"/>
                <a:ea typeface="JetBrains Mono"/>
                <a:cs typeface="JetBrains Mono"/>
                <a:sym typeface="JetBrains Mono"/>
              </a:rPr>
              <a:t>Shi, C. et al. </a:t>
            </a:r>
            <a:r>
              <a:rPr b="0" i="0" lang="en-US" sz="2100" u="none" cap="none" strike="noStrike">
                <a:solidFill>
                  <a:srgbClr val="E8EAED"/>
                </a:solidFill>
                <a:latin typeface="JetBrains Mono"/>
                <a:ea typeface="JetBrains Mono"/>
                <a:cs typeface="JetBrains Mono"/>
                <a:sym typeface="JetBrains Mono"/>
              </a:rPr>
              <a:t>Lessons from Defending Gemini Against Indirect Prompt Injections </a:t>
            </a:r>
            <a:r>
              <a:rPr b="0" i="0" lang="en-US" sz="2100" u="none" cap="none" strike="noStrike">
                <a:solidFill>
                  <a:srgbClr val="B8BCC4"/>
                </a:solidFill>
                <a:latin typeface="JetBrains Mono"/>
                <a:ea typeface="JetBrains Mono"/>
                <a:cs typeface="JetBrains Mono"/>
                <a:sym typeface="JetBrains Mono"/>
              </a:rPr>
              <a:t>Google DeepMind, 2025 · arXiv:2505.14534 Greshake et al. (2023) — indirect prompt injection · references.md</a:t>
            </a:r>
            <a:endParaRPr b="0" i="0" sz="2100" u="none" cap="none" strike="noStrike">
              <a:solidFill>
                <a:schemeClr val="dk1"/>
              </a:solidFill>
              <a:latin typeface="Calibri"/>
              <a:ea typeface="Calibri"/>
              <a:cs typeface="Calibri"/>
              <a:sym typeface="Calibri"/>
            </a:endParaRPr>
          </a:p>
        </p:txBody>
      </p:sp>
      <p:sp>
        <p:nvSpPr>
          <p:cNvPr id="374" name="Google Shape;374;p11"/>
          <p:cNvSpPr/>
          <p:nvPr/>
        </p:nvSpPr>
        <p:spPr>
          <a:xfrm>
            <a:off x="952500" y="9452610"/>
            <a:ext cx="6630534" cy="3390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A808A"/>
              </a:buClr>
              <a:buSzPts val="1800"/>
              <a:buFont typeface="JetBrains Mono"/>
              <a:buNone/>
            </a:pPr>
            <a:r>
              <a:rPr b="0" i="0" lang="en-US" sz="1800" u="none" cap="none" strike="noStrike">
                <a:solidFill>
                  <a:srgbClr val="7A808A"/>
                </a:solidFill>
                <a:latin typeface="JetBrains Mono"/>
                <a:ea typeface="JetBrains Mono"/>
                <a:cs typeface="JetBrains Mono"/>
                <a:sym typeface="JetBrains Mono"/>
              </a:rPr>
              <a:t>LUKE · DEFENSIVE AI SECURITY</a:t>
            </a:r>
            <a:endParaRPr b="0" i="0" sz="1800" u="none" cap="none" strike="noStrike">
              <a:solidFill>
                <a:schemeClr val="dk1"/>
              </a:solidFill>
              <a:latin typeface="Calibri"/>
              <a:ea typeface="Calibri"/>
              <a:cs typeface="Calibri"/>
              <a:sym typeface="Calibri"/>
            </a:endParaRPr>
          </a:p>
        </p:txBody>
      </p:sp>
      <p:sp>
        <p:nvSpPr>
          <p:cNvPr id="375" name="Google Shape;375;p11"/>
          <p:cNvSpPr/>
          <p:nvPr/>
        </p:nvSpPr>
        <p:spPr>
          <a:xfrm>
            <a:off x="16820377" y="9452610"/>
            <a:ext cx="515124" cy="33909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4F545D"/>
              </a:buClr>
              <a:buSzPts val="1800"/>
              <a:buFont typeface="JetBrains Mono"/>
              <a:buNone/>
            </a:pPr>
            <a:r>
              <a:rPr b="0" i="0" lang="en-US" sz="1800" u="none" cap="none" strike="noStrike">
                <a:solidFill>
                  <a:srgbClr val="4F545D"/>
                </a:solidFill>
                <a:latin typeface="JetBrains Mono"/>
                <a:ea typeface="JetBrains Mono"/>
                <a:cs typeface="JetBrains Mono"/>
                <a:sym typeface="JetBrains Mono"/>
              </a:rPr>
              <a:t>EOF</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2026-04-25T20:23:45Z</dcterms:created>
  <dc:creator>PptxGenJS</dc:creator>
</cp:coreProperties>
</file>